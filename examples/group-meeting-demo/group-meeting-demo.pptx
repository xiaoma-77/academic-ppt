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174A8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4A88"/>
                    </a:solidFill>
                    <a:latin typeface="Segoe U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74A8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857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48DA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6CADC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Baseline</c:v>
                  </c:pt>
                  <c:pt idx="1">
                    <c:v>RandAug</c:v>
                  </c:pt>
                  <c:pt idx="2">
                    <c:v>Cutout</c:v>
                  </c:pt>
                  <c:pt idx="3">
                    <c:v>ColorJitter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52.8</c:v>
                </c:pt>
                <c:pt idx="1">
                  <c:v>55.9</c:v>
                </c:pt>
                <c:pt idx="2">
                  <c:v>53.4</c:v>
                </c:pt>
                <c:pt idx="3">
                  <c:v>52.1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74A88"/>
                  </a:solidFill>
                  <a:latin typeface="Segoe U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Segoe UI"/>
                  </a:defRPr>
                </a:pPr>
                <a:r>
                  <a:rPr sz="1200" b="0" i="0" u="none" strike="noStrike">
                    <a:solidFill>
                      <a:srgbClr val="000000"/>
                    </a:solidFill>
                    <a:latin typeface="Segoe UI"/>
                  </a:rPr>
                  <a:t>Augmentation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26477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7620" cap="flat">
              <a:solidFill>
                <a:srgbClr val="DCE5ED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Segoe UI"/>
                  </a:defRPr>
                </a:pPr>
                <a:r>
                  <a:rPr sz="1200" b="0" i="0" u="none" strike="noStrike">
                    <a:solidFill>
                      <a:srgbClr val="000000"/>
                    </a:solidFill>
                    <a:latin typeface="Segoe UI"/>
                  </a:rPr>
                  <a:t>Accuracy (%)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26477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solidFill>
              <a:srgbClr val="174A88"/>
            </a:solidFill>
            <a:ln w="25400" cap="flat">
              <a:solidFill>
                <a:srgbClr val="174A88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4A88"/>
                    </a:solidFill>
                    <a:latin typeface="Segoe U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74A88"/>
              </a:solidFill>
              <a:ln w="9525" cap="flat">
                <a:solidFill>
                  <a:srgbClr val="174A8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0</c:v>
                  </c:pt>
                  <c:pt idx="1">
                    <c:v>20</c:v>
                  </c:pt>
                  <c:pt idx="2">
                    <c:v>40</c:v>
                  </c:pt>
                  <c:pt idx="3">
                    <c:v>60</c:v>
                  </c:pt>
                  <c:pt idx="4">
                    <c:v>80</c:v>
                  </c:pt>
                  <c:pt idx="5">
                    <c:v>100</c:v>
                  </c:pt>
                  <c:pt idx="6">
                    <c:v>120</c:v>
                  </c:pt>
                  <c:pt idx="7">
                    <c:v>140</c:v>
                  </c:pt>
                  <c:pt idx="8">
                    <c:v>160</c:v>
                  </c:pt>
                  <c:pt idx="9">
                    <c:v>180</c:v>
                  </c:pt>
                  <c:pt idx="10">
                    <c:v>200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1.8</c:v>
                </c:pt>
                <c:pt idx="1">
                  <c:v>1.5</c:v>
                </c:pt>
                <c:pt idx="2">
                  <c:v>1.22</c:v>
                </c:pt>
                <c:pt idx="3">
                  <c:v>1.02</c:v>
                </c:pt>
                <c:pt idx="4">
                  <c:v>0.86</c:v>
                </c:pt>
                <c:pt idx="5">
                  <c:v>0.75</c:v>
                </c:pt>
                <c:pt idx="6">
                  <c:v>0.64</c:v>
                </c:pt>
                <c:pt idx="7">
                  <c:v>0.56</c:v>
                </c:pt>
                <c:pt idx="8">
                  <c:v>0.5</c:v>
                </c:pt>
                <c:pt idx="9">
                  <c:v>0.46</c:v>
                </c:pt>
                <c:pt idx="10">
                  <c:v>0.42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Mixup (demo)</c:v>
                </c:pt>
              </c:strCache>
            </c:strRef>
          </c:tx>
          <c:spPr>
            <a:solidFill>
              <a:srgbClr val="B73535"/>
            </a:solidFill>
            <a:ln w="25400" cap="flat">
              <a:solidFill>
                <a:srgbClr val="B73535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4A88"/>
                    </a:solidFill>
                    <a:latin typeface="Segoe U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73535"/>
              </a:solidFill>
              <a:ln w="9525" cap="flat">
                <a:solidFill>
                  <a:srgbClr val="B7353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0</c:v>
                  </c:pt>
                  <c:pt idx="1">
                    <c:v>20</c:v>
                  </c:pt>
                  <c:pt idx="2">
                    <c:v>40</c:v>
                  </c:pt>
                  <c:pt idx="3">
                    <c:v>60</c:v>
                  </c:pt>
                  <c:pt idx="4">
                    <c:v>80</c:v>
                  </c:pt>
                  <c:pt idx="5">
                    <c:v>100</c:v>
                  </c:pt>
                  <c:pt idx="6">
                    <c:v>120</c:v>
                  </c:pt>
                  <c:pt idx="7">
                    <c:v>140</c:v>
                  </c:pt>
                  <c:pt idx="8">
                    <c:v>160</c:v>
                  </c:pt>
                  <c:pt idx="9">
                    <c:v>180</c:v>
                  </c:pt>
                  <c:pt idx="10">
                    <c:v>200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1.8</c:v>
                </c:pt>
                <c:pt idx="1">
                  <c:v>1.51</c:v>
                </c:pt>
                <c:pt idx="2">
                  <c:v>1.24</c:v>
                </c:pt>
                <c:pt idx="3">
                  <c:v>1.57</c:v>
                </c:pt>
                <c:pt idx="4">
                  <c:v>0.91</c:v>
                </c:pt>
                <c:pt idx="5">
                  <c:v>1.31</c:v>
                </c:pt>
                <c:pt idx="6">
                  <c:v>0.71</c:v>
                </c:pt>
                <c:pt idx="7">
                  <c:v>1.12</c:v>
                </c:pt>
                <c:pt idx="8">
                  <c:v>0.61</c:v>
                </c:pt>
                <c:pt idx="9">
                  <c:v>0.95</c:v>
                </c:pt>
                <c:pt idx="10">
                  <c:v>0.52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74A88"/>
                  </a:solidFill>
                  <a:latin typeface="Segoe U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Segoe UI"/>
                  </a:defRPr>
                </a:pPr>
                <a:r>
                  <a:rPr sz="1200" b="0" i="0" u="none" strike="noStrike">
                    <a:solidFill>
                      <a:srgbClr val="000000"/>
                    </a:solidFill>
                    <a:latin typeface="Segoe UI"/>
                  </a:rPr>
                  <a:t>Epoch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26477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"/>
          <c:min val="0"/>
        </c:scaling>
        <c:delete val="0"/>
        <c:axPos val="l"/>
        <c:majorGridlines>
          <c:spPr>
            <a:ln w="7620" cap="flat">
              <a:solidFill>
                <a:srgbClr val="DCE5ED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Segoe UI"/>
                  </a:defRPr>
                </a:pPr>
                <a:r>
                  <a:rPr sz="1200" b="0" i="0" u="none" strike="noStrike">
                    <a:solidFill>
                      <a:srgbClr val="000000"/>
                    </a:solidFill>
                    <a:latin typeface="Segoe UI"/>
                  </a:rPr>
                  <a:t>Loss (a.u.)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26477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0.5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02A35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Lyceum role: cover
本页研究内容、实验值及趋势全部为虚构演示数据，不能作为科研结论或引用。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Lyceum role: content
本页研究内容、实验值及趋势全部为虚构演示数据，不能作为科研结论或引用。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Lyceum role: content
本页研究内容、实验值及趋势全部为虚构演示数据，不能作为科研结论或引用。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Lyceum role: content
本页研究内容、实验值及趋势全部为虚构演示数据，不能作为科研结论或引用。
图 3 · 技术路线示意。箭头表示数据或分析产物的流向。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Lyceum role: content
本页研究内容、实验值及趋势全部为虚构演示数据，不能作为科研结论或引用。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Lyceum role: content
本页研究内容、实验值及趋势全部为虚构演示数据，不能作为科研结论或引用。
Chart data: Baseline 52.8; RandAug 55.9; Cutout 53.4; ColorJitter 52.1 (%).
Table data: dim/1shot/5shot/h: 128/54.6/71.2/3.1; 256/55.9/72.0/4.2; 512/55.7/71.9/6.5; 1024/55.8/72.1/10.9. All fictional. No p values or repeat count supplied.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Lyceum role: content
本页研究内容、实验值及趋势全部为虚构演示数据，不能作为科研结论或引用。
Synthetic line data only. Epoch: 0,20,40,60,80,100,120,140,160,180,200. Baseline: 1.8,1.5,1.22,1.02,0.86,0.75,0.64,0.56,0.5,0.46,0.42. Mixup: 1.8,1.51,1.24,1.57,0.91,1.31,0.71,1.12,0.61,0.95,0.52. Not actual experiment logs. Hypothesis is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Lyceum role: content
本页研究内容、实验值及趋势全部为虚构演示数据，不能作为科研结论或引用。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Lyceum role: appendix
本页研究内容、实验值及趋势全部为虚构演示数据，不能作为科研结论或引用。
Data on slides 6 and 7 are stored in their own notes and native chart workbooks. No external paper is cited as supporting these fictional values.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ADEMIC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109728" cy="155448"/>
          </a:xfrm>
          <a:prstGeom prst="rect">
            <a:avLst/>
          </a:prstGeom>
          <a:solidFill>
            <a:srgbClr val="174A88"/>
          </a:solidFill>
          <a:ln w="13970">
            <a:solidFill>
              <a:srgbClr val="174A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18288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4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组会汇报</a:t>
            </a:r>
            <a:r>
              <a:rPr lang="en-US" sz="1300" b="1" dirty="0">
                <a:solidFill>
                  <a:srgbClr val="174A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</a:t>
            </a:r>
            <a:r>
              <a:rPr lang="en-US" sz="1300" b="1" dirty="0">
                <a:solidFill>
                  <a:srgbClr val="174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研究进展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4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面向小样本分类的对比学习研究进展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197864"/>
            <a:ext cx="521208" cy="0"/>
          </a:xfrm>
          <a:prstGeom prst="line">
            <a:avLst/>
          </a:prstGeom>
          <a:noFill/>
          <a:ln w="38100">
            <a:solidFill>
              <a:srgbClr val="174A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6391656"/>
            <a:ext cx="11274552" cy="0"/>
          </a:xfrm>
          <a:prstGeom prst="line">
            <a:avLst/>
          </a:prstGeom>
          <a:noFill/>
          <a:ln w="7620">
            <a:solidFill>
              <a:srgbClr val="B8CA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492240"/>
            <a:ext cx="9966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64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学术蓝白示例</a:t>
            </a:r>
            <a:r>
              <a:rPr lang="en-US" sz="1200" dirty="0">
                <a:solidFill>
                  <a:srgbClr val="5264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· </a:t>
            </a:r>
            <a:r>
              <a:rPr lang="en-US" sz="1200" dirty="0">
                <a:solidFill>
                  <a:srgbClr val="5264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所有研究数据均为虚构演示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698480" y="6492240"/>
            <a:ext cx="10332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264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/ 9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60020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从增强策略、表征结构到训练稳定性，建立可比较的实验路线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57200" y="232257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本次汇报覆盖研究问题、技术路线、结果比较与下一阶段验证设计。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3182112"/>
            <a:ext cx="2633472" cy="420624"/>
          </a:xfrm>
          <a:prstGeom prst="rect">
            <a:avLst/>
          </a:prstGeom>
          <a:solidFill>
            <a:srgbClr val="174A88"/>
          </a:solidFill>
          <a:ln w="13970">
            <a:solidFill>
              <a:srgbClr val="174A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5216" y="320040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57200" y="3602736"/>
            <a:ext cx="2633472" cy="1005840"/>
          </a:xfrm>
          <a:prstGeom prst="rect">
            <a:avLst/>
          </a:prstGeom>
          <a:solidFill>
            <a:srgbClr val="EAF3FB"/>
          </a:solidFill>
          <a:ln w="13970">
            <a:solidFill>
              <a:srgbClr val="174A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5216" y="37947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4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低样本监督不足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3090672" y="4096512"/>
            <a:ext cx="228600" cy="0"/>
          </a:xfrm>
          <a:prstGeom prst="line">
            <a:avLst/>
          </a:prstGeom>
          <a:noFill/>
          <a:ln w="25400">
            <a:solidFill>
              <a:srgbClr val="174A88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337560" y="3182112"/>
            <a:ext cx="2633472" cy="420624"/>
          </a:xfrm>
          <a:prstGeom prst="rect">
            <a:avLst/>
          </a:prstGeom>
          <a:solidFill>
            <a:srgbClr val="008579"/>
          </a:solidFill>
          <a:ln w="13970">
            <a:solidFill>
              <a:srgbClr val="00857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65576" y="320040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3337560" y="3602736"/>
            <a:ext cx="2633472" cy="1005840"/>
          </a:xfrm>
          <a:prstGeom prst="rect">
            <a:avLst/>
          </a:prstGeom>
          <a:solidFill>
            <a:srgbClr val="EAF3FB"/>
          </a:solidFill>
          <a:ln w="13970">
            <a:solidFill>
              <a:srgbClr val="00857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65576" y="37947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85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增强</a:t>
            </a:r>
            <a:r>
              <a:rPr lang="en-US" sz="1700" b="1" dirty="0">
                <a:solidFill>
                  <a:srgbClr val="00857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+ </a:t>
            </a:r>
            <a:r>
              <a:rPr lang="en-US" sz="1700" b="1" dirty="0">
                <a:solidFill>
                  <a:srgbClr val="0085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对比表征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971032" y="4096512"/>
            <a:ext cx="228600" cy="0"/>
          </a:xfrm>
          <a:prstGeom prst="line">
            <a:avLst/>
          </a:prstGeom>
          <a:noFill/>
          <a:ln w="25400">
            <a:solidFill>
              <a:srgbClr val="174A88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217920" y="3182112"/>
            <a:ext cx="2633472" cy="420624"/>
          </a:xfrm>
          <a:prstGeom prst="rect">
            <a:avLst/>
          </a:prstGeom>
          <a:solidFill>
            <a:srgbClr val="096CA8"/>
          </a:solidFill>
          <a:ln w="13970">
            <a:solidFill>
              <a:srgbClr val="096CA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45936" y="320040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6217920" y="3602736"/>
            <a:ext cx="2633472" cy="1005840"/>
          </a:xfrm>
          <a:prstGeom prst="rect">
            <a:avLst/>
          </a:prstGeom>
          <a:solidFill>
            <a:srgbClr val="EAF3FB"/>
          </a:solidFill>
          <a:ln w="13970">
            <a:solidFill>
              <a:srgbClr val="096CA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45936" y="37947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96C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精度</a:t>
            </a:r>
            <a:r>
              <a:rPr lang="en-US" sz="1700" b="1" dirty="0">
                <a:solidFill>
                  <a:srgbClr val="096C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</a:t>
            </a:r>
            <a:r>
              <a:rPr lang="en-US" sz="1700" b="1" dirty="0">
                <a:solidFill>
                  <a:srgbClr val="096C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时长</a:t>
            </a:r>
            <a:r>
              <a:rPr lang="en-US" sz="1700" b="1" dirty="0">
                <a:solidFill>
                  <a:srgbClr val="096C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</a:t>
            </a:r>
            <a:r>
              <a:rPr lang="en-US" sz="1700" b="1" dirty="0">
                <a:solidFill>
                  <a:srgbClr val="096C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稳定性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8851392" y="4096512"/>
            <a:ext cx="228600" cy="0"/>
          </a:xfrm>
          <a:prstGeom prst="line">
            <a:avLst/>
          </a:prstGeom>
          <a:noFill/>
          <a:ln w="25400">
            <a:solidFill>
              <a:srgbClr val="174A88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098280" y="3182112"/>
            <a:ext cx="2633472" cy="420624"/>
          </a:xfrm>
          <a:prstGeom prst="rect">
            <a:avLst/>
          </a:prstGeom>
          <a:solidFill>
            <a:srgbClr val="B87B00"/>
          </a:solidFill>
          <a:ln w="13970">
            <a:solidFill>
              <a:srgbClr val="B87B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226296" y="320040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讨论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098280" y="3602736"/>
            <a:ext cx="2633472" cy="1005840"/>
          </a:xfrm>
          <a:prstGeom prst="rect">
            <a:avLst/>
          </a:prstGeom>
          <a:solidFill>
            <a:srgbClr val="EAF3FB"/>
          </a:solidFill>
          <a:ln w="13970">
            <a:solidFill>
              <a:srgbClr val="B87B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26296" y="37947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7B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Mixup </a:t>
            </a:r>
            <a:r>
              <a:rPr lang="en-US" sz="1700" b="1" dirty="0">
                <a:solidFill>
                  <a:srgbClr val="B87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震荡定位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457200" y="5166360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汇报人：研究生（示例）</a:t>
            </a:r>
            <a:r>
              <a:rPr lang="en-US" sz="1800" dirty="0">
                <a:solidFill>
                  <a:srgbClr val="202A3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 </a:t>
            </a:r>
            <a:r>
              <a:rPr lang="en-US" sz="1800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研究方向：计算机视觉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457200" y="5650992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264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</a:t>
            </a:r>
            <a:r>
              <a:rPr lang="en-US" sz="1600" dirty="0">
                <a:solidFill>
                  <a:srgbClr val="5264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</a:t>
            </a:r>
            <a:r>
              <a:rPr lang="en-US" sz="1600" dirty="0">
                <a:solidFill>
                  <a:srgbClr val="5264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10 </a:t>
            </a:r>
            <a:r>
              <a:rPr lang="en-US" sz="1600" dirty="0">
                <a:solidFill>
                  <a:srgbClr val="5264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</a:t>
            </a:r>
            <a:r>
              <a:rPr lang="en-US" sz="1600" dirty="0">
                <a:solidFill>
                  <a:srgbClr val="5264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28 </a:t>
            </a:r>
            <a:r>
              <a:rPr lang="en-US" sz="1600" dirty="0">
                <a:solidFill>
                  <a:srgbClr val="5264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</a:t>
            </a:r>
            <a:r>
              <a:rPr lang="en-US" sz="1600" dirty="0">
                <a:solidFill>
                  <a:srgbClr val="5264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· </a:t>
            </a:r>
            <a:r>
              <a:rPr lang="en-US" sz="1600" dirty="0">
                <a:solidFill>
                  <a:srgbClr val="5264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</a:t>
            </a:r>
            <a:r>
              <a:rPr lang="en-US" sz="1600" dirty="0">
                <a:solidFill>
                  <a:srgbClr val="5264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12 </a:t>
            </a:r>
            <a:r>
              <a:rPr lang="en-US" sz="1600" dirty="0">
                <a:solidFill>
                  <a:srgbClr val="5264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</a:t>
            </a:r>
            <a:r>
              <a:rPr lang="en-US" sz="1600" dirty="0">
                <a:solidFill>
                  <a:srgbClr val="5264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· </a:t>
            </a:r>
            <a:r>
              <a:rPr lang="en-US" sz="1600" dirty="0">
                <a:solidFill>
                  <a:srgbClr val="5264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示例汇报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109728" cy="155448"/>
          </a:xfrm>
          <a:prstGeom prst="rect">
            <a:avLst/>
          </a:prstGeom>
          <a:solidFill>
            <a:srgbClr val="174A88"/>
          </a:solidFill>
          <a:ln w="13970">
            <a:solidFill>
              <a:srgbClr val="174A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18288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4A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</a:t>
            </a:r>
            <a:r>
              <a:rPr lang="en-US" sz="1300" b="1" dirty="0">
                <a:solidFill>
                  <a:srgbClr val="174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研究背景与问题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4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少量标注下，增强收益与训练稳定性需要同时验证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197864"/>
            <a:ext cx="521208" cy="0"/>
          </a:xfrm>
          <a:prstGeom prst="line">
            <a:avLst/>
          </a:prstGeom>
          <a:noFill/>
          <a:ln w="38100">
            <a:solidFill>
              <a:srgbClr val="174A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99032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研究切入点：固定实验协议，区分</a:t>
            </a:r>
            <a:r>
              <a:rPr lang="en-US" sz="1800" b="1" dirty="0">
                <a:solidFill>
                  <a:srgbClr val="202A3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</a:t>
            </a:r>
            <a:r>
              <a:rPr lang="en-US" sz="1800" b="1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增强有效</a:t>
            </a:r>
            <a:r>
              <a:rPr lang="en-US" sz="1800" b="1" dirty="0">
                <a:solidFill>
                  <a:srgbClr val="202A3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”</a:t>
            </a:r>
            <a:r>
              <a:rPr lang="en-US" sz="1800" b="1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</a:t>
            </a:r>
            <a:r>
              <a:rPr lang="en-US" sz="1800" b="1" dirty="0">
                <a:solidFill>
                  <a:srgbClr val="202A3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</a:t>
            </a:r>
            <a:r>
              <a:rPr lang="en-US" sz="1800" b="1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表征更稳定</a:t>
            </a:r>
            <a:r>
              <a:rPr lang="en-US" sz="1800" b="1" dirty="0">
                <a:solidFill>
                  <a:srgbClr val="202A3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”</a:t>
            </a:r>
            <a:r>
              <a:rPr lang="en-US" sz="1800" b="1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这两个可验证命题。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6391656"/>
            <a:ext cx="11274552" cy="0"/>
          </a:xfrm>
          <a:prstGeom prst="line">
            <a:avLst/>
          </a:prstGeom>
          <a:noFill/>
          <a:ln w="7620">
            <a:solidFill>
              <a:srgbClr val="B8CA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6492240"/>
            <a:ext cx="9966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64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学术蓝白示例</a:t>
            </a:r>
            <a:r>
              <a:rPr lang="en-US" sz="1200" dirty="0">
                <a:solidFill>
                  <a:srgbClr val="5264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· </a:t>
            </a:r>
            <a:r>
              <a:rPr lang="en-US" sz="1200" dirty="0">
                <a:solidFill>
                  <a:srgbClr val="5264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所有研究数据均为虚构演示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698480" y="6492240"/>
            <a:ext cx="10332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264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/ 9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157984"/>
            <a:ext cx="5669280" cy="420624"/>
          </a:xfrm>
          <a:prstGeom prst="rect">
            <a:avLst/>
          </a:prstGeom>
          <a:solidFill>
            <a:srgbClr val="174A88"/>
          </a:solidFill>
          <a:ln w="13970">
            <a:solidFill>
              <a:srgbClr val="174A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5216" y="2176272"/>
            <a:ext cx="5413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任务背景与观察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2578608"/>
            <a:ext cx="5669280" cy="3182112"/>
          </a:xfrm>
          <a:prstGeom prst="rect">
            <a:avLst/>
          </a:prstGeom>
          <a:solidFill>
            <a:srgbClr val="FFFFFF"/>
          </a:solidFill>
          <a:ln w="13970">
            <a:solidFill>
              <a:srgbClr val="B8CA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2734056"/>
            <a:ext cx="526694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每个类别仅有少量标注样本，类别内变化难以覆盖。</a:t>
            </a:r>
            <a:r>
              <a:rPr lang="en-US" sz="1800" dirty="0">
                <a:solidFill>
                  <a:srgbClr val="202A3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
</a:t>
            </a:r>
            <a:r>
              <a:rPr lang="en-US" sz="1800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增强可以扩展样本变化，也可能改变正负样本关系。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67512" y="3977640"/>
            <a:ext cx="1243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4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支持样本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057400" y="3904488"/>
            <a:ext cx="393192" cy="438912"/>
          </a:xfrm>
          <a:prstGeom prst="rect">
            <a:avLst/>
          </a:prstGeom>
          <a:solidFill>
            <a:srgbClr val="EAF3FB"/>
          </a:solidFill>
          <a:ln w="13970">
            <a:solidFill>
              <a:srgbClr val="174A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03120" y="3959352"/>
            <a:ext cx="301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4A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2624328" y="3904488"/>
            <a:ext cx="393192" cy="438912"/>
          </a:xfrm>
          <a:prstGeom prst="rect">
            <a:avLst/>
          </a:prstGeom>
          <a:solidFill>
            <a:srgbClr val="EAF3FB"/>
          </a:solidFill>
          <a:ln w="13970">
            <a:solidFill>
              <a:srgbClr val="174A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70048" y="3959352"/>
            <a:ext cx="301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4A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3191256" y="3904488"/>
            <a:ext cx="393192" cy="438912"/>
          </a:xfrm>
          <a:prstGeom prst="rect">
            <a:avLst/>
          </a:prstGeom>
          <a:solidFill>
            <a:srgbClr val="EAF3FB"/>
          </a:solidFill>
          <a:ln w="13970">
            <a:solidFill>
              <a:srgbClr val="174A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36976" y="3959352"/>
            <a:ext cx="301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4A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758184" y="3904488"/>
            <a:ext cx="393192" cy="438912"/>
          </a:xfrm>
          <a:prstGeom prst="rect">
            <a:avLst/>
          </a:prstGeom>
          <a:solidFill>
            <a:srgbClr val="E6F4F0"/>
          </a:solidFill>
          <a:ln w="13970">
            <a:solidFill>
              <a:srgbClr val="00857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03904" y="3959352"/>
            <a:ext cx="301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857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325112" y="3904488"/>
            <a:ext cx="393192" cy="438912"/>
          </a:xfrm>
          <a:prstGeom prst="rect">
            <a:avLst/>
          </a:prstGeom>
          <a:solidFill>
            <a:srgbClr val="E6F4F0"/>
          </a:solidFill>
          <a:ln w="13970">
            <a:solidFill>
              <a:srgbClr val="00857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370832" y="3959352"/>
            <a:ext cx="301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857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4892040" y="3904488"/>
            <a:ext cx="393192" cy="438912"/>
          </a:xfrm>
          <a:prstGeom prst="rect">
            <a:avLst/>
          </a:prstGeom>
          <a:solidFill>
            <a:srgbClr val="E6F4F0"/>
          </a:solidFill>
          <a:ln w="13970">
            <a:solidFill>
              <a:srgbClr val="00857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37760" y="3959352"/>
            <a:ext cx="301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857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67512" y="4745736"/>
            <a:ext cx="1243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4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查询样本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2057400" y="4672584"/>
            <a:ext cx="393192" cy="438912"/>
          </a:xfrm>
          <a:prstGeom prst="rect">
            <a:avLst/>
          </a:prstGeom>
          <a:solidFill>
            <a:srgbClr val="EAF3FB"/>
          </a:solidFill>
          <a:ln w="13970">
            <a:solidFill>
              <a:srgbClr val="174A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103120" y="4727448"/>
            <a:ext cx="301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4A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2624328" y="4672584"/>
            <a:ext cx="393192" cy="438912"/>
          </a:xfrm>
          <a:prstGeom prst="rect">
            <a:avLst/>
          </a:prstGeom>
          <a:solidFill>
            <a:srgbClr val="EAF3FB"/>
          </a:solidFill>
          <a:ln w="13970">
            <a:solidFill>
              <a:srgbClr val="174A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0048" y="4727448"/>
            <a:ext cx="301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4A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3191256" y="4672584"/>
            <a:ext cx="393192" cy="438912"/>
          </a:xfrm>
          <a:prstGeom prst="rect">
            <a:avLst/>
          </a:prstGeom>
          <a:solidFill>
            <a:srgbClr val="EAF3FB"/>
          </a:solidFill>
          <a:ln w="13970">
            <a:solidFill>
              <a:srgbClr val="174A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36976" y="4727448"/>
            <a:ext cx="301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4A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3758184" y="4672584"/>
            <a:ext cx="393192" cy="438912"/>
          </a:xfrm>
          <a:prstGeom prst="rect">
            <a:avLst/>
          </a:prstGeom>
          <a:solidFill>
            <a:srgbClr val="E6F4F0"/>
          </a:solidFill>
          <a:ln w="13970">
            <a:solidFill>
              <a:srgbClr val="00857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803904" y="4727448"/>
            <a:ext cx="301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857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4325112" y="4672584"/>
            <a:ext cx="393192" cy="438912"/>
          </a:xfrm>
          <a:prstGeom prst="rect">
            <a:avLst/>
          </a:prstGeom>
          <a:solidFill>
            <a:srgbClr val="E6F4F0"/>
          </a:solidFill>
          <a:ln w="13970">
            <a:solidFill>
              <a:srgbClr val="00857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70832" y="4727448"/>
            <a:ext cx="301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857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4892040" y="4672584"/>
            <a:ext cx="393192" cy="438912"/>
          </a:xfrm>
          <a:prstGeom prst="rect">
            <a:avLst/>
          </a:prstGeom>
          <a:solidFill>
            <a:srgbClr val="E6F4F0"/>
          </a:solidFill>
          <a:ln w="13970">
            <a:solidFill>
              <a:srgbClr val="00857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937760" y="4727448"/>
            <a:ext cx="301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857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676656" y="5312664"/>
            <a:ext cx="51663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64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任务结构示意：两类样本，不代表真实数据分布。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245352" y="4023360"/>
            <a:ext cx="521208" cy="0"/>
          </a:xfrm>
          <a:prstGeom prst="line">
            <a:avLst/>
          </a:prstGeom>
          <a:noFill/>
          <a:ln w="25400">
            <a:solidFill>
              <a:srgbClr val="B73535"/>
            </a:solidFill>
            <a:prstDash val="solid"/>
            <a:headEnd type="none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6976872" y="2157984"/>
            <a:ext cx="4754880" cy="420624"/>
          </a:xfrm>
          <a:prstGeom prst="rect">
            <a:avLst/>
          </a:prstGeom>
          <a:solidFill>
            <a:srgbClr val="B73535"/>
          </a:solidFill>
          <a:ln w="13970">
            <a:solidFill>
              <a:srgbClr val="B7353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04888" y="2176272"/>
            <a:ext cx="4498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提出可验证的研究问题</a:t>
            </a:r>
            <a:endParaRPr lang="en-US" sz="1800" dirty="0"/>
          </a:p>
        </p:txBody>
      </p:sp>
      <p:sp>
        <p:nvSpPr>
          <p:cNvPr id="44" name="Shape 42"/>
          <p:cNvSpPr/>
          <p:nvPr/>
        </p:nvSpPr>
        <p:spPr>
          <a:xfrm>
            <a:off x="6976872" y="2578608"/>
            <a:ext cx="4754880" cy="3182112"/>
          </a:xfrm>
          <a:prstGeom prst="rect">
            <a:avLst/>
          </a:prstGeom>
          <a:solidFill>
            <a:srgbClr val="FFF4F1"/>
          </a:solidFill>
          <a:ln w="13970">
            <a:solidFill>
              <a:srgbClr val="B7353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05472" y="2880360"/>
            <a:ext cx="42976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问题：哪些增强能改善表征？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7205472" y="3502152"/>
            <a:ext cx="42976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边界：固定编码器、轮次及协议</a:t>
            </a:r>
            <a:endParaRPr lang="en-US" sz="1800" dirty="0"/>
          </a:p>
        </p:txBody>
      </p:sp>
      <p:sp>
        <p:nvSpPr>
          <p:cNvPr id="47" name="Text 45"/>
          <p:cNvSpPr/>
          <p:nvPr/>
        </p:nvSpPr>
        <p:spPr>
          <a:xfrm>
            <a:off x="7205472" y="4123944"/>
            <a:ext cx="42976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缺口：均值无法说明训练稳定性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7205472" y="4745736"/>
            <a:ext cx="42976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目标：报告精度、代价与失败</a:t>
            </a:r>
            <a:endParaRPr lang="en-US" sz="1800" dirty="0"/>
          </a:p>
        </p:txBody>
      </p:sp>
      <p:sp>
        <p:nvSpPr>
          <p:cNvPr id="49" name="Text 47"/>
          <p:cNvSpPr/>
          <p:nvPr/>
        </p:nvSpPr>
        <p:spPr>
          <a:xfrm>
            <a:off x="457200" y="6053328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64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r>
              <a:rPr lang="en-US" sz="1200" dirty="0">
                <a:solidFill>
                  <a:srgbClr val="5264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1 · </a:t>
            </a:r>
            <a:r>
              <a:rPr lang="en-US" sz="1200" dirty="0">
                <a:solidFill>
                  <a:srgbClr val="5264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从任务约束推导研究问题；本页为方法设计示意，不含真实实验结论。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109728" cy="155448"/>
          </a:xfrm>
          <a:prstGeom prst="rect">
            <a:avLst/>
          </a:prstGeom>
          <a:solidFill>
            <a:srgbClr val="174A88"/>
          </a:solidFill>
          <a:ln w="13970">
            <a:solidFill>
              <a:srgbClr val="174A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18288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4A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</a:t>
            </a:r>
            <a:r>
              <a:rPr lang="en-US" sz="1300" b="1" dirty="0">
                <a:solidFill>
                  <a:srgbClr val="174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研究内容与本期进展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4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围绕增强、表征和稳定性，建立问题</a:t>
            </a:r>
            <a:r>
              <a:rPr lang="en-US" sz="2800" b="1" dirty="0">
                <a:solidFill>
                  <a:srgbClr val="174A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</a:t>
            </a:r>
            <a:r>
              <a:rPr lang="en-US" sz="2800" b="1" dirty="0">
                <a:solidFill>
                  <a:srgbClr val="174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r>
              <a:rPr lang="en-US" sz="2800" b="1" dirty="0">
                <a:solidFill>
                  <a:srgbClr val="174A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</a:t>
            </a:r>
            <a:r>
              <a:rPr lang="en-US" sz="2800" b="1" dirty="0">
                <a:solidFill>
                  <a:srgbClr val="174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产物对应关系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197864"/>
            <a:ext cx="521208" cy="0"/>
          </a:xfrm>
          <a:prstGeom prst="line">
            <a:avLst/>
          </a:prstGeom>
          <a:noFill/>
          <a:ln w="38100">
            <a:solidFill>
              <a:srgbClr val="174A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6391656"/>
            <a:ext cx="11274552" cy="0"/>
          </a:xfrm>
          <a:prstGeom prst="line">
            <a:avLst/>
          </a:prstGeom>
          <a:noFill/>
          <a:ln w="7620">
            <a:solidFill>
              <a:srgbClr val="B8CA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492240"/>
            <a:ext cx="9966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64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学术蓝白示例</a:t>
            </a:r>
            <a:r>
              <a:rPr lang="en-US" sz="1200" dirty="0">
                <a:solidFill>
                  <a:srgbClr val="5264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· </a:t>
            </a:r>
            <a:r>
              <a:rPr lang="en-US" sz="1200" dirty="0">
                <a:solidFill>
                  <a:srgbClr val="5264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所有研究数据均为虚构演示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698480" y="6492240"/>
            <a:ext cx="10332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264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/ 9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746504"/>
            <a:ext cx="2103120" cy="822960"/>
          </a:xfrm>
          <a:prstGeom prst="rect">
            <a:avLst/>
          </a:prstGeom>
          <a:solidFill>
            <a:srgbClr val="174A88"/>
          </a:solidFill>
          <a:ln w="13970">
            <a:solidFill>
              <a:srgbClr val="174A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801368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科学问题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2852928" y="1600200"/>
            <a:ext cx="887882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4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在少量标注条件下，哪些变化应保持语义一致？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2852928" y="2020824"/>
            <a:ext cx="8878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把增强策略、投影头容量与混合样本关系分别作为变量；控制其余设置。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2852928" y="2532888"/>
            <a:ext cx="2779776" cy="347472"/>
          </a:xfrm>
          <a:prstGeom prst="rect">
            <a:avLst/>
          </a:prstGeom>
          <a:solidFill>
            <a:srgbClr val="FFFFFF"/>
          </a:solidFill>
          <a:ln w="13970">
            <a:solidFill>
              <a:srgbClr val="174A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44368" y="2587752"/>
            <a:ext cx="2596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4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增强收益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852160" y="2532888"/>
            <a:ext cx="2779776" cy="347472"/>
          </a:xfrm>
          <a:prstGeom prst="rect">
            <a:avLst/>
          </a:prstGeom>
          <a:solidFill>
            <a:srgbClr val="FFFFFF"/>
          </a:solidFill>
          <a:ln w="13970">
            <a:solidFill>
              <a:srgbClr val="174A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2587752"/>
            <a:ext cx="2596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4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容量代价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851392" y="2532888"/>
            <a:ext cx="2779776" cy="347472"/>
          </a:xfrm>
          <a:prstGeom prst="rect">
            <a:avLst/>
          </a:prstGeom>
          <a:solidFill>
            <a:srgbClr val="FFFFFF"/>
          </a:solidFill>
          <a:ln w="13970">
            <a:solidFill>
              <a:srgbClr val="174A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42832" y="2587752"/>
            <a:ext cx="2596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4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训练稳定性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852928" y="2962656"/>
            <a:ext cx="8878824" cy="0"/>
          </a:xfrm>
          <a:prstGeom prst="line">
            <a:avLst/>
          </a:prstGeom>
          <a:noFill/>
          <a:ln w="10160">
            <a:solidFill>
              <a:srgbClr val="B8CADB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1508760" y="2569464"/>
            <a:ext cx="0" cy="649224"/>
          </a:xfrm>
          <a:prstGeom prst="line">
            <a:avLst/>
          </a:prstGeom>
          <a:noFill/>
          <a:ln w="25400">
            <a:solidFill>
              <a:srgbClr val="174A88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57200" y="3218688"/>
            <a:ext cx="2103120" cy="822960"/>
          </a:xfrm>
          <a:prstGeom prst="rect">
            <a:avLst/>
          </a:prstGeom>
          <a:solidFill>
            <a:srgbClr val="008579"/>
          </a:solidFill>
          <a:ln w="13970">
            <a:solidFill>
              <a:srgbClr val="00857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3273552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研究方法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2852928" y="3072384"/>
            <a:ext cx="887882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85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沿用同一训练链路，逐项改变变量并观察证据。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2852928" y="3493008"/>
            <a:ext cx="8878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本期完成增强对比与投影头消融；</a:t>
            </a:r>
            <a:r>
              <a:rPr lang="en-US" sz="1700" dirty="0">
                <a:solidFill>
                  <a:srgbClr val="202A3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Mixup </a:t>
            </a:r>
            <a:r>
              <a:rPr lang="en-US" sz="1700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震荡进入诊断，尚未归因。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2852928" y="4005072"/>
            <a:ext cx="2779776" cy="347472"/>
          </a:xfrm>
          <a:prstGeom prst="rect">
            <a:avLst/>
          </a:prstGeom>
          <a:solidFill>
            <a:srgbClr val="FFFFFF"/>
          </a:solidFill>
          <a:ln w="13970">
            <a:solidFill>
              <a:srgbClr val="00857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44368" y="4059936"/>
            <a:ext cx="2596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85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单变量对比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852160" y="4005072"/>
            <a:ext cx="2779776" cy="347472"/>
          </a:xfrm>
          <a:prstGeom prst="rect">
            <a:avLst/>
          </a:prstGeom>
          <a:solidFill>
            <a:srgbClr val="FFFFFF"/>
          </a:solidFill>
          <a:ln w="13970">
            <a:solidFill>
              <a:srgbClr val="00857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43600" y="4059936"/>
            <a:ext cx="2596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85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精度</a:t>
            </a:r>
            <a:r>
              <a:rPr lang="en-US" sz="1400" b="1" dirty="0">
                <a:solidFill>
                  <a:srgbClr val="00857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</a:t>
            </a:r>
            <a:r>
              <a:rPr lang="en-US" sz="1400" b="1" dirty="0">
                <a:solidFill>
                  <a:srgbClr val="0085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耗时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851392" y="4005072"/>
            <a:ext cx="2779776" cy="347472"/>
          </a:xfrm>
          <a:prstGeom prst="rect">
            <a:avLst/>
          </a:prstGeom>
          <a:solidFill>
            <a:srgbClr val="FFFFFF"/>
          </a:solidFill>
          <a:ln w="13970">
            <a:solidFill>
              <a:srgbClr val="00857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42832" y="4059936"/>
            <a:ext cx="2596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85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曲线</a:t>
            </a:r>
            <a:r>
              <a:rPr lang="en-US" sz="1400" b="1" dirty="0">
                <a:solidFill>
                  <a:srgbClr val="00857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+ </a:t>
            </a:r>
            <a:r>
              <a:rPr lang="en-US" sz="1400" b="1" dirty="0">
                <a:solidFill>
                  <a:srgbClr val="0085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排查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2852928" y="4434840"/>
            <a:ext cx="8878824" cy="0"/>
          </a:xfrm>
          <a:prstGeom prst="line">
            <a:avLst/>
          </a:prstGeom>
          <a:noFill/>
          <a:ln w="10160">
            <a:solidFill>
              <a:srgbClr val="B8CADB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1508760" y="4041648"/>
            <a:ext cx="0" cy="649224"/>
          </a:xfrm>
          <a:prstGeom prst="line">
            <a:avLst/>
          </a:prstGeom>
          <a:noFill/>
          <a:ln w="25400">
            <a:solidFill>
              <a:srgbClr val="174A88"/>
            </a:solidFill>
            <a:prstDash val="solid"/>
            <a:headEnd type="none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457200" y="4690872"/>
            <a:ext cx="2103120" cy="822960"/>
          </a:xfrm>
          <a:prstGeom prst="rect">
            <a:avLst/>
          </a:prstGeom>
          <a:solidFill>
            <a:srgbClr val="096CA8"/>
          </a:solidFill>
          <a:ln w="13970">
            <a:solidFill>
              <a:srgbClr val="096CA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4745736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阶段产物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2852928" y="4544568"/>
            <a:ext cx="887882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96C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保留可追溯的数据表、图示与下一轮验收条件。</a:t>
            </a:r>
            <a:endParaRPr lang="en-US" sz="1900" dirty="0"/>
          </a:p>
        </p:txBody>
      </p:sp>
      <p:sp>
        <p:nvSpPr>
          <p:cNvPr id="36" name="Text 34"/>
          <p:cNvSpPr/>
          <p:nvPr/>
        </p:nvSpPr>
        <p:spPr>
          <a:xfrm>
            <a:off x="2852928" y="4965192"/>
            <a:ext cx="8878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产物分别对应结果比较、效率决策和诊断计划；演示数值不能用于科研引用。</a:t>
            </a:r>
            <a:endParaRPr lang="en-US" sz="1700" dirty="0"/>
          </a:p>
        </p:txBody>
      </p:sp>
      <p:sp>
        <p:nvSpPr>
          <p:cNvPr id="37" name="Shape 35"/>
          <p:cNvSpPr/>
          <p:nvPr/>
        </p:nvSpPr>
        <p:spPr>
          <a:xfrm>
            <a:off x="2852928" y="5477256"/>
            <a:ext cx="2779776" cy="347472"/>
          </a:xfrm>
          <a:prstGeom prst="rect">
            <a:avLst/>
          </a:prstGeom>
          <a:solidFill>
            <a:srgbClr val="FFFFFF"/>
          </a:solidFill>
          <a:ln w="13970">
            <a:solidFill>
              <a:srgbClr val="096CA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944368" y="5532120"/>
            <a:ext cx="2596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96C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结果表</a:t>
            </a:r>
            <a:r>
              <a:rPr lang="en-US" sz="1400" b="1" dirty="0">
                <a:solidFill>
                  <a:srgbClr val="096C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→ </a:t>
            </a:r>
            <a:r>
              <a:rPr lang="en-US" sz="1400" b="1" dirty="0">
                <a:solidFill>
                  <a:srgbClr val="096C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</a:t>
            </a:r>
            <a:r>
              <a:rPr lang="en-US" sz="1400" b="1" dirty="0">
                <a:solidFill>
                  <a:srgbClr val="096C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6 </a:t>
            </a:r>
            <a:r>
              <a:rPr lang="en-US" sz="1400" b="1" dirty="0">
                <a:solidFill>
                  <a:srgbClr val="096C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5852160" y="5477256"/>
            <a:ext cx="2779776" cy="347472"/>
          </a:xfrm>
          <a:prstGeom prst="rect">
            <a:avLst/>
          </a:prstGeom>
          <a:solidFill>
            <a:srgbClr val="FFFFFF"/>
          </a:solidFill>
          <a:ln w="13970">
            <a:solidFill>
              <a:srgbClr val="096CA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0" y="5532120"/>
            <a:ext cx="2596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96C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方法图</a:t>
            </a:r>
            <a:r>
              <a:rPr lang="en-US" sz="1400" b="1" dirty="0">
                <a:solidFill>
                  <a:srgbClr val="096C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→ </a:t>
            </a:r>
            <a:r>
              <a:rPr lang="en-US" sz="1400" b="1" dirty="0">
                <a:solidFill>
                  <a:srgbClr val="096C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</a:t>
            </a:r>
            <a:r>
              <a:rPr lang="en-US" sz="1400" b="1" dirty="0">
                <a:solidFill>
                  <a:srgbClr val="096C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5 </a:t>
            </a:r>
            <a:r>
              <a:rPr lang="en-US" sz="1400" b="1" dirty="0">
                <a:solidFill>
                  <a:srgbClr val="096C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8851392" y="5477256"/>
            <a:ext cx="2779776" cy="347472"/>
          </a:xfrm>
          <a:prstGeom prst="rect">
            <a:avLst/>
          </a:prstGeom>
          <a:solidFill>
            <a:srgbClr val="FFFFFF"/>
          </a:solidFill>
          <a:ln w="13970">
            <a:solidFill>
              <a:srgbClr val="096CA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942832" y="5532120"/>
            <a:ext cx="2596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96C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排查链</a:t>
            </a:r>
            <a:r>
              <a:rPr lang="en-US" sz="1400" b="1" dirty="0">
                <a:solidFill>
                  <a:srgbClr val="096C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→ </a:t>
            </a:r>
            <a:r>
              <a:rPr lang="en-US" sz="1400" b="1" dirty="0">
                <a:solidFill>
                  <a:srgbClr val="096C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</a:t>
            </a:r>
            <a:r>
              <a:rPr lang="en-US" sz="1400" b="1" dirty="0">
                <a:solidFill>
                  <a:srgbClr val="096C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7 </a:t>
            </a:r>
            <a:r>
              <a:rPr lang="en-US" sz="1400" b="1" dirty="0">
                <a:solidFill>
                  <a:srgbClr val="096C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2852928" y="5907024"/>
            <a:ext cx="8878824" cy="0"/>
          </a:xfrm>
          <a:prstGeom prst="line">
            <a:avLst/>
          </a:prstGeom>
          <a:noFill/>
          <a:ln w="10160">
            <a:solidFill>
              <a:srgbClr val="B8CADB"/>
            </a:solidFill>
            <a:prstDash val="dash"/>
          </a:ln>
        </p:spPr>
      </p:sp>
      <p:sp>
        <p:nvSpPr>
          <p:cNvPr id="44" name="Text 42"/>
          <p:cNvSpPr/>
          <p:nvPr/>
        </p:nvSpPr>
        <p:spPr>
          <a:xfrm>
            <a:off x="457200" y="6053328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64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r>
              <a:rPr lang="en-US" sz="1200" dirty="0">
                <a:solidFill>
                  <a:srgbClr val="5264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2 · </a:t>
            </a:r>
            <a:r>
              <a:rPr lang="en-US" sz="1200" dirty="0">
                <a:solidFill>
                  <a:srgbClr val="5264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研究内容与阶段产物对应；左侧表示研究推进，右侧给出解释与验收对象。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109728" cy="155448"/>
          </a:xfrm>
          <a:prstGeom prst="rect">
            <a:avLst/>
          </a:prstGeom>
          <a:solidFill>
            <a:srgbClr val="174A88"/>
          </a:solidFill>
          <a:ln w="13970">
            <a:solidFill>
              <a:srgbClr val="174A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18288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4A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</a:t>
            </a:r>
            <a:r>
              <a:rPr lang="en-US" sz="1300" b="1" dirty="0">
                <a:solidFill>
                  <a:srgbClr val="174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研究方案与技术路线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4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把数据、表征学习与评测连接成可复核的技术路线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197864"/>
            <a:ext cx="521208" cy="0"/>
          </a:xfrm>
          <a:prstGeom prst="line">
            <a:avLst/>
          </a:prstGeom>
          <a:noFill/>
          <a:ln w="38100">
            <a:solidFill>
              <a:srgbClr val="174A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99032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路线以同一数据划分和评测协议为起点；增强、投影头与</a:t>
            </a:r>
            <a:r>
              <a:rPr lang="en-US" sz="1800" b="1" dirty="0">
                <a:solidFill>
                  <a:srgbClr val="202A3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Mixup </a:t>
            </a:r>
            <a:r>
              <a:rPr lang="en-US" sz="1800" b="1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分别作为实验变量。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6391656"/>
            <a:ext cx="11274552" cy="0"/>
          </a:xfrm>
          <a:prstGeom prst="line">
            <a:avLst/>
          </a:prstGeom>
          <a:noFill/>
          <a:ln w="7620">
            <a:solidFill>
              <a:srgbClr val="B8CA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6492240"/>
            <a:ext cx="9966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64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学术蓝白示例</a:t>
            </a:r>
            <a:r>
              <a:rPr lang="en-US" sz="1200" dirty="0">
                <a:solidFill>
                  <a:srgbClr val="5264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· </a:t>
            </a:r>
            <a:r>
              <a:rPr lang="en-US" sz="1200" dirty="0">
                <a:solidFill>
                  <a:srgbClr val="5264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所有研究数据均为虚构演示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698480" y="6492240"/>
            <a:ext cx="10332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264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/ 9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221992"/>
            <a:ext cx="2057400" cy="2697480"/>
          </a:xfrm>
          <a:prstGeom prst="rect">
            <a:avLst/>
          </a:prstGeom>
          <a:solidFill>
            <a:srgbClr val="FFFFFF"/>
          </a:solidFill>
          <a:ln w="13970">
            <a:solidFill>
              <a:srgbClr val="174A8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221992"/>
            <a:ext cx="2057400" cy="420624"/>
          </a:xfrm>
          <a:prstGeom prst="rect">
            <a:avLst/>
          </a:prstGeom>
          <a:solidFill>
            <a:srgbClr val="174A88"/>
          </a:solidFill>
          <a:ln w="13970">
            <a:solidFill>
              <a:srgbClr val="174A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5216" y="2240280"/>
            <a:ext cx="180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研究输入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94360" y="2880360"/>
            <a:ext cx="713232" cy="512064"/>
          </a:xfrm>
          <a:prstGeom prst="rect">
            <a:avLst/>
          </a:prstGeom>
          <a:solidFill>
            <a:srgbClr val="EAF3FB"/>
          </a:solidFill>
          <a:ln w="13970">
            <a:solidFill>
              <a:srgbClr val="174A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935224"/>
            <a:ext cx="530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4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316736" y="3136392"/>
            <a:ext cx="283464" cy="0"/>
          </a:xfrm>
          <a:prstGeom prst="line">
            <a:avLst/>
          </a:prstGeom>
          <a:noFill/>
          <a:ln w="25400">
            <a:solidFill>
              <a:srgbClr val="174A88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627632" y="2880360"/>
            <a:ext cx="749808" cy="512064"/>
          </a:xfrm>
          <a:prstGeom prst="rect">
            <a:avLst/>
          </a:prstGeom>
          <a:solidFill>
            <a:srgbClr val="EAF3FB"/>
          </a:solidFill>
          <a:ln w="13970">
            <a:solidFill>
              <a:srgbClr val="174A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719072" y="2935224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4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3639312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4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少量标注图像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57200" y="4160520"/>
            <a:ext cx="2057400" cy="0"/>
          </a:xfrm>
          <a:prstGeom prst="line">
            <a:avLst/>
          </a:prstGeom>
          <a:noFill/>
          <a:ln w="12700">
            <a:solidFill>
              <a:srgbClr val="174A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76072" y="4288536"/>
            <a:ext cx="18196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固定数据划分</a:t>
            </a:r>
            <a:r>
              <a:rPr lang="en-US" sz="1500" dirty="0">
                <a:solidFill>
                  <a:srgbClr val="202A3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
</a:t>
            </a:r>
            <a:r>
              <a:rPr lang="en-US" sz="1500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限定任务协议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2514600" y="3584448"/>
            <a:ext cx="237744" cy="0"/>
          </a:xfrm>
          <a:prstGeom prst="line">
            <a:avLst/>
          </a:prstGeom>
          <a:noFill/>
          <a:ln w="25400">
            <a:solidFill>
              <a:srgbClr val="174A88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2761488" y="2221992"/>
            <a:ext cx="2057400" cy="2697480"/>
          </a:xfrm>
          <a:prstGeom prst="rect">
            <a:avLst/>
          </a:prstGeom>
          <a:solidFill>
            <a:srgbClr val="FFFFFF"/>
          </a:solidFill>
          <a:ln w="13970">
            <a:solidFill>
              <a:srgbClr val="00857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761488" y="2221992"/>
            <a:ext cx="2057400" cy="420624"/>
          </a:xfrm>
          <a:prstGeom prst="rect">
            <a:avLst/>
          </a:prstGeom>
          <a:solidFill>
            <a:srgbClr val="008579"/>
          </a:solidFill>
          <a:ln w="13970">
            <a:solidFill>
              <a:srgbClr val="00857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889504" y="2240280"/>
            <a:ext cx="180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数据准备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2898648" y="2880360"/>
            <a:ext cx="713232" cy="512064"/>
          </a:xfrm>
          <a:prstGeom prst="rect">
            <a:avLst/>
          </a:prstGeom>
          <a:solidFill>
            <a:srgbClr val="EAF3FB"/>
          </a:solidFill>
          <a:ln w="13970">
            <a:solidFill>
              <a:srgbClr val="00857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0088" y="2935224"/>
            <a:ext cx="530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85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原图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21024" y="3136392"/>
            <a:ext cx="283464" cy="0"/>
          </a:xfrm>
          <a:prstGeom prst="line">
            <a:avLst/>
          </a:prstGeom>
          <a:noFill/>
          <a:ln w="25400">
            <a:solidFill>
              <a:srgbClr val="008579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3931920" y="2880360"/>
            <a:ext cx="749808" cy="512064"/>
          </a:xfrm>
          <a:prstGeom prst="rect">
            <a:avLst/>
          </a:prstGeom>
          <a:solidFill>
            <a:srgbClr val="EAF3FB"/>
          </a:solidFill>
          <a:ln w="13970">
            <a:solidFill>
              <a:srgbClr val="00857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023360" y="2935224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85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视图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852928" y="3639312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85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构造双视图样本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2761488" y="4160520"/>
            <a:ext cx="2057400" cy="0"/>
          </a:xfrm>
          <a:prstGeom prst="line">
            <a:avLst/>
          </a:prstGeom>
          <a:noFill/>
          <a:ln w="12700">
            <a:solidFill>
              <a:srgbClr val="00857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80360" y="4288536"/>
            <a:ext cx="18196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比较增强策略</a:t>
            </a:r>
            <a:r>
              <a:rPr lang="en-US" sz="1500" dirty="0">
                <a:solidFill>
                  <a:srgbClr val="202A3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
</a:t>
            </a:r>
            <a:r>
              <a:rPr lang="en-US" sz="1500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记录随机种子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4818888" y="3584448"/>
            <a:ext cx="237744" cy="0"/>
          </a:xfrm>
          <a:prstGeom prst="line">
            <a:avLst/>
          </a:prstGeom>
          <a:noFill/>
          <a:ln w="25400">
            <a:solidFill>
              <a:srgbClr val="174A88"/>
            </a:solidFill>
            <a:prstDash val="solid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5065776" y="2221992"/>
            <a:ext cx="2057400" cy="2697480"/>
          </a:xfrm>
          <a:prstGeom prst="rect">
            <a:avLst/>
          </a:prstGeom>
          <a:solidFill>
            <a:srgbClr val="FFFFFF"/>
          </a:solidFill>
          <a:ln w="13970">
            <a:solidFill>
              <a:srgbClr val="096CA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65776" y="2221992"/>
            <a:ext cx="2057400" cy="420624"/>
          </a:xfrm>
          <a:prstGeom prst="rect">
            <a:avLst/>
          </a:prstGeom>
          <a:solidFill>
            <a:srgbClr val="096CA8"/>
          </a:solidFill>
          <a:ln w="13970">
            <a:solidFill>
              <a:srgbClr val="096CA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193792" y="2240280"/>
            <a:ext cx="180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模型构建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5202936" y="2880360"/>
            <a:ext cx="713232" cy="512064"/>
          </a:xfrm>
          <a:prstGeom prst="rect">
            <a:avLst/>
          </a:prstGeom>
          <a:solidFill>
            <a:srgbClr val="EAF3FB"/>
          </a:solidFill>
          <a:ln w="13970">
            <a:solidFill>
              <a:srgbClr val="096CA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94376" y="2935224"/>
            <a:ext cx="530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96C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5925312" y="3136392"/>
            <a:ext cx="283464" cy="0"/>
          </a:xfrm>
          <a:prstGeom prst="line">
            <a:avLst/>
          </a:prstGeom>
          <a:noFill/>
          <a:ln w="25400">
            <a:solidFill>
              <a:srgbClr val="096CA8"/>
            </a:solidFill>
            <a:prstDash val="solid"/>
            <a:headEnd type="none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6236208" y="2880360"/>
            <a:ext cx="749808" cy="512064"/>
          </a:xfrm>
          <a:prstGeom prst="rect">
            <a:avLst/>
          </a:prstGeom>
          <a:solidFill>
            <a:srgbClr val="EAF3FB"/>
          </a:solidFill>
          <a:ln w="13970">
            <a:solidFill>
              <a:srgbClr val="096CA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27648" y="2935224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96C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嵌入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5157216" y="3639312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96C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学习对比表征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5065776" y="4160520"/>
            <a:ext cx="2057400" cy="0"/>
          </a:xfrm>
          <a:prstGeom prst="line">
            <a:avLst/>
          </a:prstGeom>
          <a:noFill/>
          <a:ln w="12700">
            <a:solidFill>
              <a:srgbClr val="096CA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184648" y="4288536"/>
            <a:ext cx="18196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编码器</a:t>
            </a:r>
            <a:r>
              <a:rPr lang="en-US" sz="1500" dirty="0">
                <a:solidFill>
                  <a:srgbClr val="202A3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+ </a:t>
            </a:r>
            <a:r>
              <a:rPr lang="en-US" sz="1500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投影头</a:t>
            </a:r>
            <a:r>
              <a:rPr lang="en-US" sz="1500" dirty="0">
                <a:solidFill>
                  <a:srgbClr val="202A3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
</a:t>
            </a:r>
            <a:r>
              <a:rPr lang="en-US" sz="1500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控制结构与损失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7123176" y="3584448"/>
            <a:ext cx="237744" cy="0"/>
          </a:xfrm>
          <a:prstGeom prst="line">
            <a:avLst/>
          </a:prstGeom>
          <a:noFill/>
          <a:ln w="25400">
            <a:solidFill>
              <a:srgbClr val="174A88"/>
            </a:solidFill>
            <a:prstDash val="solid"/>
            <a:headEnd type="none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7370064" y="2221992"/>
            <a:ext cx="2057400" cy="2697480"/>
          </a:xfrm>
          <a:prstGeom prst="rect">
            <a:avLst/>
          </a:prstGeom>
          <a:solidFill>
            <a:srgbClr val="FFFFFF"/>
          </a:solidFill>
          <a:ln w="13970">
            <a:solidFill>
              <a:srgbClr val="B87B0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370064" y="2221992"/>
            <a:ext cx="2057400" cy="420624"/>
          </a:xfrm>
          <a:prstGeom prst="rect">
            <a:avLst/>
          </a:prstGeom>
          <a:solidFill>
            <a:srgbClr val="B87B00"/>
          </a:solidFill>
          <a:ln w="13970">
            <a:solidFill>
              <a:srgbClr val="B87B0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98080" y="2240280"/>
            <a:ext cx="180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验证评估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7507224" y="2880360"/>
            <a:ext cx="713232" cy="512064"/>
          </a:xfrm>
          <a:prstGeom prst="rect">
            <a:avLst/>
          </a:prstGeom>
          <a:solidFill>
            <a:srgbClr val="EAF3FB"/>
          </a:solidFill>
          <a:ln w="13970">
            <a:solidFill>
              <a:srgbClr val="B87B0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98664" y="2935224"/>
            <a:ext cx="530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预测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8229600" y="3136392"/>
            <a:ext cx="283464" cy="0"/>
          </a:xfrm>
          <a:prstGeom prst="line">
            <a:avLst/>
          </a:prstGeom>
          <a:noFill/>
          <a:ln w="25400">
            <a:solidFill>
              <a:srgbClr val="B87B00"/>
            </a:solidFill>
            <a:prstDash val="solid"/>
            <a:headEnd type="none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8540496" y="2880360"/>
            <a:ext cx="749808" cy="512064"/>
          </a:xfrm>
          <a:prstGeom prst="rect">
            <a:avLst/>
          </a:prstGeom>
          <a:solidFill>
            <a:srgbClr val="EAF3FB"/>
          </a:solidFill>
          <a:ln w="13970">
            <a:solidFill>
              <a:srgbClr val="B87B0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631936" y="2935224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7461504" y="3639312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7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精度与代价比较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7370064" y="4160520"/>
            <a:ext cx="2057400" cy="0"/>
          </a:xfrm>
          <a:prstGeom prst="line">
            <a:avLst/>
          </a:prstGeom>
          <a:noFill/>
          <a:ln w="12700">
            <a:solidFill>
              <a:srgbClr val="B87B0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488936" y="4288536"/>
            <a:ext cx="18196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02A3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1-shot / 5-shot
</a:t>
            </a:r>
            <a:r>
              <a:rPr lang="en-US" sz="1500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耗时及稳定性</a:t>
            </a:r>
            <a:endParaRPr lang="en-US" sz="1500" dirty="0"/>
          </a:p>
        </p:txBody>
      </p:sp>
      <p:sp>
        <p:nvSpPr>
          <p:cNvPr id="57" name="Shape 55"/>
          <p:cNvSpPr/>
          <p:nvPr/>
        </p:nvSpPr>
        <p:spPr>
          <a:xfrm>
            <a:off x="9427464" y="3584448"/>
            <a:ext cx="237744" cy="0"/>
          </a:xfrm>
          <a:prstGeom prst="line">
            <a:avLst/>
          </a:prstGeom>
          <a:noFill/>
          <a:ln w="25400">
            <a:solidFill>
              <a:srgbClr val="174A88"/>
            </a:solidFill>
            <a:prstDash val="solid"/>
            <a:headEnd type="none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9674352" y="2221992"/>
            <a:ext cx="2057400" cy="2697480"/>
          </a:xfrm>
          <a:prstGeom prst="rect">
            <a:avLst/>
          </a:prstGeom>
          <a:solidFill>
            <a:srgbClr val="FFFFFF"/>
          </a:solidFill>
          <a:ln w="13970">
            <a:solidFill>
              <a:srgbClr val="174A8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674352" y="2221992"/>
            <a:ext cx="2057400" cy="420624"/>
          </a:xfrm>
          <a:prstGeom prst="rect">
            <a:avLst/>
          </a:prstGeom>
          <a:solidFill>
            <a:srgbClr val="174A88"/>
          </a:solidFill>
          <a:ln w="13970">
            <a:solidFill>
              <a:srgbClr val="174A8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9802368" y="2240280"/>
            <a:ext cx="180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阶段输出</a:t>
            </a:r>
            <a:endParaRPr lang="en-US" sz="1800" dirty="0"/>
          </a:p>
        </p:txBody>
      </p:sp>
      <p:sp>
        <p:nvSpPr>
          <p:cNvPr id="61" name="Shape 59"/>
          <p:cNvSpPr/>
          <p:nvPr/>
        </p:nvSpPr>
        <p:spPr>
          <a:xfrm>
            <a:off x="9811512" y="2880360"/>
            <a:ext cx="713232" cy="512064"/>
          </a:xfrm>
          <a:prstGeom prst="rect">
            <a:avLst/>
          </a:prstGeom>
          <a:solidFill>
            <a:srgbClr val="EAF3FB"/>
          </a:solidFill>
          <a:ln w="13970">
            <a:solidFill>
              <a:srgbClr val="174A8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902952" y="2935224"/>
            <a:ext cx="530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4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400" dirty="0"/>
          </a:p>
        </p:txBody>
      </p:sp>
      <p:sp>
        <p:nvSpPr>
          <p:cNvPr id="63" name="Shape 61"/>
          <p:cNvSpPr/>
          <p:nvPr/>
        </p:nvSpPr>
        <p:spPr>
          <a:xfrm>
            <a:off x="10533888" y="3136392"/>
            <a:ext cx="283464" cy="0"/>
          </a:xfrm>
          <a:prstGeom prst="line">
            <a:avLst/>
          </a:prstGeom>
          <a:noFill/>
          <a:ln w="25400">
            <a:solidFill>
              <a:srgbClr val="174A88"/>
            </a:solidFill>
            <a:prstDash val="solid"/>
            <a:headEnd type="none"/>
            <a:tailEnd type="triangle"/>
          </a:ln>
        </p:spPr>
      </p:sp>
      <p:sp>
        <p:nvSpPr>
          <p:cNvPr id="64" name="Shape 62"/>
          <p:cNvSpPr/>
          <p:nvPr/>
        </p:nvSpPr>
        <p:spPr>
          <a:xfrm>
            <a:off x="10844784" y="2880360"/>
            <a:ext cx="749808" cy="512064"/>
          </a:xfrm>
          <a:prstGeom prst="rect">
            <a:avLst/>
          </a:prstGeom>
          <a:solidFill>
            <a:srgbClr val="EAF3FB"/>
          </a:solidFill>
          <a:ln w="13970">
            <a:solidFill>
              <a:srgbClr val="174A88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0936224" y="2935224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4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</a:t>
            </a:r>
            <a:endParaRPr lang="en-US" sz="1400" dirty="0"/>
          </a:p>
        </p:txBody>
      </p:sp>
      <p:sp>
        <p:nvSpPr>
          <p:cNvPr id="66" name="Text 64"/>
          <p:cNvSpPr/>
          <p:nvPr/>
        </p:nvSpPr>
        <p:spPr>
          <a:xfrm>
            <a:off x="9765792" y="3639312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4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结果与诊断清单</a:t>
            </a:r>
            <a:endParaRPr lang="en-US" sz="1800" dirty="0"/>
          </a:p>
        </p:txBody>
      </p:sp>
      <p:sp>
        <p:nvSpPr>
          <p:cNvPr id="67" name="Shape 65"/>
          <p:cNvSpPr/>
          <p:nvPr/>
        </p:nvSpPr>
        <p:spPr>
          <a:xfrm>
            <a:off x="9674352" y="4160520"/>
            <a:ext cx="2057400" cy="0"/>
          </a:xfrm>
          <a:prstGeom prst="line">
            <a:avLst/>
          </a:prstGeom>
          <a:noFill/>
          <a:ln w="12700">
            <a:solidFill>
              <a:srgbClr val="174A8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93224" y="4288536"/>
            <a:ext cx="18196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可追溯图表</a:t>
            </a:r>
            <a:r>
              <a:rPr lang="en-US" sz="1500" dirty="0">
                <a:solidFill>
                  <a:srgbClr val="202A3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
</a:t>
            </a:r>
            <a:r>
              <a:rPr lang="en-US" sz="1500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下一轮验证设计</a:t>
            </a:r>
            <a:endParaRPr lang="en-US" sz="1500" dirty="0"/>
          </a:p>
        </p:txBody>
      </p:sp>
      <p:sp>
        <p:nvSpPr>
          <p:cNvPr id="69" name="Text 67"/>
          <p:cNvSpPr/>
          <p:nvPr/>
        </p:nvSpPr>
        <p:spPr>
          <a:xfrm>
            <a:off x="457200" y="5212080"/>
            <a:ext cx="3593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85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阶段一</a:t>
            </a:r>
            <a:r>
              <a:rPr lang="en-US" sz="1800" b="1" dirty="0">
                <a:solidFill>
                  <a:srgbClr val="00857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· </a:t>
            </a:r>
            <a:r>
              <a:rPr lang="en-US" sz="1800" b="1" dirty="0">
                <a:solidFill>
                  <a:srgbClr val="0085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数据准备</a:t>
            </a:r>
            <a:endParaRPr lang="en-US" sz="1800" dirty="0"/>
          </a:p>
        </p:txBody>
      </p:sp>
      <p:sp>
        <p:nvSpPr>
          <p:cNvPr id="70" name="Text 68"/>
          <p:cNvSpPr/>
          <p:nvPr/>
        </p:nvSpPr>
        <p:spPr>
          <a:xfrm>
            <a:off x="457200" y="5641848"/>
            <a:ext cx="35935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固定划分、种子与增强配置</a:t>
            </a:r>
            <a:endParaRPr lang="en-US" sz="1600" dirty="0"/>
          </a:p>
        </p:txBody>
      </p:sp>
      <p:sp>
        <p:nvSpPr>
          <p:cNvPr id="71" name="Text 69"/>
          <p:cNvSpPr/>
          <p:nvPr/>
        </p:nvSpPr>
        <p:spPr>
          <a:xfrm>
            <a:off x="4297680" y="5212080"/>
            <a:ext cx="3593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96C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阶段二</a:t>
            </a:r>
            <a:r>
              <a:rPr lang="en-US" sz="1800" b="1" dirty="0">
                <a:solidFill>
                  <a:srgbClr val="096C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· </a:t>
            </a:r>
            <a:r>
              <a:rPr lang="en-US" sz="1800" b="1" dirty="0">
                <a:solidFill>
                  <a:srgbClr val="096C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模型比较</a:t>
            </a:r>
            <a:endParaRPr lang="en-US" sz="1800" dirty="0"/>
          </a:p>
        </p:txBody>
      </p:sp>
      <p:sp>
        <p:nvSpPr>
          <p:cNvPr id="72" name="Text 70"/>
          <p:cNvSpPr/>
          <p:nvPr/>
        </p:nvSpPr>
        <p:spPr>
          <a:xfrm>
            <a:off x="4297680" y="5641848"/>
            <a:ext cx="35935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固定主干，逐项比较增强与投影头</a:t>
            </a:r>
            <a:endParaRPr lang="en-US" sz="1600" dirty="0"/>
          </a:p>
        </p:txBody>
      </p:sp>
      <p:sp>
        <p:nvSpPr>
          <p:cNvPr id="73" name="Text 71"/>
          <p:cNvSpPr/>
          <p:nvPr/>
        </p:nvSpPr>
        <p:spPr>
          <a:xfrm>
            <a:off x="8138160" y="5212080"/>
            <a:ext cx="3593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7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阶段三</a:t>
            </a:r>
            <a:r>
              <a:rPr lang="en-US" sz="1800" b="1" dirty="0">
                <a:solidFill>
                  <a:srgbClr val="B87B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· </a:t>
            </a:r>
            <a:r>
              <a:rPr lang="en-US" sz="1800" b="1" dirty="0">
                <a:solidFill>
                  <a:srgbClr val="B87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验证与诊断</a:t>
            </a:r>
            <a:endParaRPr lang="en-US" sz="1800" dirty="0"/>
          </a:p>
        </p:txBody>
      </p:sp>
      <p:sp>
        <p:nvSpPr>
          <p:cNvPr id="74" name="Text 72"/>
          <p:cNvSpPr/>
          <p:nvPr/>
        </p:nvSpPr>
        <p:spPr>
          <a:xfrm>
            <a:off x="8138160" y="5641848"/>
            <a:ext cx="35935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结合精度、时长与曲线设计下一轮实验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109728" cy="155448"/>
          </a:xfrm>
          <a:prstGeom prst="rect">
            <a:avLst/>
          </a:prstGeom>
          <a:solidFill>
            <a:srgbClr val="174A88"/>
          </a:solidFill>
          <a:ln w="13970">
            <a:solidFill>
              <a:srgbClr val="174A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18288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4A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</a:t>
            </a:r>
            <a:r>
              <a:rPr lang="en-US" sz="1300" b="1" dirty="0">
                <a:solidFill>
                  <a:srgbClr val="174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方法设计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4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双视图共享编码器，训练损失与小样本评测分别约束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197864"/>
            <a:ext cx="521208" cy="0"/>
          </a:xfrm>
          <a:prstGeom prst="line">
            <a:avLst/>
          </a:prstGeom>
          <a:noFill/>
          <a:ln w="38100">
            <a:solidFill>
              <a:srgbClr val="174A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99032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设计动机：让同一图像的不同视图形成相近表征；评测时检查迁移到少量标注任务的效果。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6391656"/>
            <a:ext cx="11274552" cy="0"/>
          </a:xfrm>
          <a:prstGeom prst="line">
            <a:avLst/>
          </a:prstGeom>
          <a:noFill/>
          <a:ln w="7620">
            <a:solidFill>
              <a:srgbClr val="B8CA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6492240"/>
            <a:ext cx="9966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64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学术蓝白示例</a:t>
            </a:r>
            <a:r>
              <a:rPr lang="en-US" sz="1200" dirty="0">
                <a:solidFill>
                  <a:srgbClr val="5264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· </a:t>
            </a:r>
            <a:r>
              <a:rPr lang="en-US" sz="1200" dirty="0">
                <a:solidFill>
                  <a:srgbClr val="5264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所有研究数据均为虚构演示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698480" y="6492240"/>
            <a:ext cx="10332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264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/ 9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148840"/>
            <a:ext cx="7443216" cy="420624"/>
          </a:xfrm>
          <a:prstGeom prst="rect">
            <a:avLst/>
          </a:prstGeom>
          <a:solidFill>
            <a:srgbClr val="174A88"/>
          </a:solidFill>
          <a:ln w="13970">
            <a:solidFill>
              <a:srgbClr val="174A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5216" y="2167128"/>
            <a:ext cx="7187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训练链路</a:t>
            </a: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· </a:t>
            </a: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方法结构示意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2569464"/>
            <a:ext cx="7443216" cy="2724912"/>
          </a:xfrm>
          <a:prstGeom prst="rect">
            <a:avLst/>
          </a:prstGeom>
          <a:solidFill>
            <a:srgbClr val="FFFFFF"/>
          </a:solidFill>
          <a:ln w="13970">
            <a:solidFill>
              <a:srgbClr val="B8CA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3447288"/>
            <a:ext cx="1188720" cy="594360"/>
          </a:xfrm>
          <a:prstGeom prst="rect">
            <a:avLst/>
          </a:prstGeom>
          <a:solidFill>
            <a:srgbClr val="EAF3FB"/>
          </a:solidFill>
          <a:ln w="13970">
            <a:solidFill>
              <a:srgbClr val="174A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502152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4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r>
              <a:rPr lang="en-US" sz="1600" b="1" dirty="0">
                <a:solidFill>
                  <a:srgbClr val="174A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x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2240280" y="2889504"/>
            <a:ext cx="1207008" cy="585216"/>
          </a:xfrm>
          <a:prstGeom prst="rect">
            <a:avLst/>
          </a:prstGeom>
          <a:solidFill>
            <a:srgbClr val="EAF3FB"/>
          </a:solidFill>
          <a:ln w="13970">
            <a:solidFill>
              <a:srgbClr val="00857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331720" y="2944368"/>
            <a:ext cx="1024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85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视图</a:t>
            </a:r>
            <a:r>
              <a:rPr lang="en-US" sz="1600" b="1" dirty="0">
                <a:solidFill>
                  <a:srgbClr val="00857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v₁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749040" y="2889504"/>
            <a:ext cx="1508760" cy="585216"/>
          </a:xfrm>
          <a:prstGeom prst="rect">
            <a:avLst/>
          </a:prstGeom>
          <a:solidFill>
            <a:srgbClr val="EAF3FB"/>
          </a:solidFill>
          <a:ln w="13970">
            <a:solidFill>
              <a:srgbClr val="174A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0" y="2944368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4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共享编码器</a:t>
            </a:r>
            <a:r>
              <a:rPr lang="en-US" sz="1600" b="1" dirty="0">
                <a:solidFill>
                  <a:srgbClr val="174A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f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577840" y="2889504"/>
            <a:ext cx="1280160" cy="585216"/>
          </a:xfrm>
          <a:prstGeom prst="rect">
            <a:avLst/>
          </a:prstGeom>
          <a:solidFill>
            <a:srgbClr val="EAF3FB"/>
          </a:solidFill>
          <a:ln w="13970">
            <a:solidFill>
              <a:srgbClr val="096CA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0" y="2944368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96C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投影头</a:t>
            </a:r>
            <a:r>
              <a:rPr lang="en-US" sz="1600" b="1" dirty="0">
                <a:solidFill>
                  <a:srgbClr val="096C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g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 flipV="1">
            <a:off x="1847088" y="3182112"/>
            <a:ext cx="393192" cy="557784"/>
          </a:xfrm>
          <a:prstGeom prst="line">
            <a:avLst/>
          </a:prstGeom>
          <a:noFill/>
          <a:ln w="25400">
            <a:solidFill>
              <a:srgbClr val="174A88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3447288" y="3182112"/>
            <a:ext cx="301752" cy="0"/>
          </a:xfrm>
          <a:prstGeom prst="line">
            <a:avLst/>
          </a:prstGeom>
          <a:noFill/>
          <a:ln w="25400">
            <a:solidFill>
              <a:srgbClr val="174A88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257800" y="3182112"/>
            <a:ext cx="320040" cy="0"/>
          </a:xfrm>
          <a:prstGeom prst="line">
            <a:avLst/>
          </a:prstGeom>
          <a:noFill/>
          <a:ln w="25400">
            <a:solidFill>
              <a:srgbClr val="174A88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240280" y="4261104"/>
            <a:ext cx="1207008" cy="585216"/>
          </a:xfrm>
          <a:prstGeom prst="rect">
            <a:avLst/>
          </a:prstGeom>
          <a:solidFill>
            <a:srgbClr val="EAF3FB"/>
          </a:solidFill>
          <a:ln w="13970">
            <a:solidFill>
              <a:srgbClr val="00857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331720" y="4315968"/>
            <a:ext cx="1024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85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视图</a:t>
            </a:r>
            <a:r>
              <a:rPr lang="en-US" sz="1600" b="1" dirty="0">
                <a:solidFill>
                  <a:srgbClr val="00857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v₂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749040" y="4261104"/>
            <a:ext cx="1508760" cy="585216"/>
          </a:xfrm>
          <a:prstGeom prst="rect">
            <a:avLst/>
          </a:prstGeom>
          <a:solidFill>
            <a:srgbClr val="EAF3FB"/>
          </a:solidFill>
          <a:ln w="13970">
            <a:solidFill>
              <a:srgbClr val="174A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840480" y="4315968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4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共享编码器</a:t>
            </a:r>
            <a:r>
              <a:rPr lang="en-US" sz="1600" b="1" dirty="0">
                <a:solidFill>
                  <a:srgbClr val="174A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f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577840" y="4261104"/>
            <a:ext cx="1280160" cy="585216"/>
          </a:xfrm>
          <a:prstGeom prst="rect">
            <a:avLst/>
          </a:prstGeom>
          <a:solidFill>
            <a:srgbClr val="EAF3FB"/>
          </a:solidFill>
          <a:ln w="13970">
            <a:solidFill>
              <a:srgbClr val="096CA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0" y="4315968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96C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投影头</a:t>
            </a:r>
            <a:r>
              <a:rPr lang="en-US" sz="1600" b="1" dirty="0">
                <a:solidFill>
                  <a:srgbClr val="096C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g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1847088" y="3739896"/>
            <a:ext cx="393192" cy="813816"/>
          </a:xfrm>
          <a:prstGeom prst="line">
            <a:avLst/>
          </a:prstGeom>
          <a:noFill/>
          <a:ln w="25400">
            <a:solidFill>
              <a:srgbClr val="174A88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3447288" y="4553712"/>
            <a:ext cx="301752" cy="0"/>
          </a:xfrm>
          <a:prstGeom prst="line">
            <a:avLst/>
          </a:prstGeom>
          <a:noFill/>
          <a:ln w="25400">
            <a:solidFill>
              <a:srgbClr val="174A88"/>
            </a:solidFill>
            <a:prstDash val="solid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5257800" y="4553712"/>
            <a:ext cx="320040" cy="0"/>
          </a:xfrm>
          <a:prstGeom prst="line">
            <a:avLst/>
          </a:prstGeom>
          <a:noFill/>
          <a:ln w="25400">
            <a:solidFill>
              <a:srgbClr val="174A88"/>
            </a:solidFill>
            <a:prstDash val="solid"/>
            <a:headEnd type="none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7059168" y="3182112"/>
            <a:ext cx="0" cy="1371600"/>
          </a:xfrm>
          <a:prstGeom prst="line">
            <a:avLst/>
          </a:prstGeom>
          <a:noFill/>
          <a:ln w="19050">
            <a:solidFill>
              <a:srgbClr val="096CA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58000" y="3182112"/>
            <a:ext cx="201168" cy="0"/>
          </a:xfrm>
          <a:prstGeom prst="line">
            <a:avLst/>
          </a:prstGeom>
          <a:noFill/>
          <a:ln w="19050">
            <a:solidFill>
              <a:srgbClr val="096CA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58000" y="4553712"/>
            <a:ext cx="201168" cy="0"/>
          </a:xfrm>
          <a:prstGeom prst="line">
            <a:avLst/>
          </a:prstGeom>
          <a:noFill/>
          <a:ln w="19050">
            <a:solidFill>
              <a:srgbClr val="096CA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187184" y="3465576"/>
            <a:ext cx="5669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4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相似度</a:t>
            </a:r>
            <a:r>
              <a:rPr lang="en-US" sz="1400" b="1" dirty="0">
                <a:solidFill>
                  <a:srgbClr val="174A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
</a:t>
            </a:r>
            <a:r>
              <a:rPr lang="en-US" sz="1400" b="1" dirty="0">
                <a:solidFill>
                  <a:srgbClr val="174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与损失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85800" y="4846320"/>
            <a:ext cx="6986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训练：更新编码器与投影头；具体正负样本构造应按实际方法填写。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8202168" y="2148840"/>
            <a:ext cx="3529584" cy="420624"/>
          </a:xfrm>
          <a:prstGeom prst="rect">
            <a:avLst/>
          </a:prstGeom>
          <a:solidFill>
            <a:srgbClr val="008579"/>
          </a:solidFill>
          <a:ln w="13970">
            <a:solidFill>
              <a:srgbClr val="00857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330184" y="2167128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变量与验证边界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8394192" y="2779776"/>
            <a:ext cx="3136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5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固定项</a:t>
            </a:r>
            <a:endParaRPr lang="en-US" sz="1700" dirty="0"/>
          </a:p>
        </p:txBody>
      </p:sp>
      <p:sp>
        <p:nvSpPr>
          <p:cNvPr id="41" name="Text 39"/>
          <p:cNvSpPr/>
          <p:nvPr/>
        </p:nvSpPr>
        <p:spPr>
          <a:xfrm>
            <a:off x="8394192" y="3145536"/>
            <a:ext cx="3136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编码器、轮次与评测协议</a:t>
            </a:r>
            <a:endParaRPr lang="en-US" sz="1700" dirty="0"/>
          </a:p>
        </p:txBody>
      </p:sp>
      <p:sp>
        <p:nvSpPr>
          <p:cNvPr id="42" name="Text 40"/>
          <p:cNvSpPr/>
          <p:nvPr/>
        </p:nvSpPr>
        <p:spPr>
          <a:xfrm>
            <a:off x="8394192" y="3611880"/>
            <a:ext cx="3136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5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比较项</a:t>
            </a:r>
            <a:endParaRPr lang="en-US" sz="1700" dirty="0"/>
          </a:p>
        </p:txBody>
      </p:sp>
      <p:sp>
        <p:nvSpPr>
          <p:cNvPr id="43" name="Text 41"/>
          <p:cNvSpPr/>
          <p:nvPr/>
        </p:nvSpPr>
        <p:spPr>
          <a:xfrm>
            <a:off x="8394192" y="3977640"/>
            <a:ext cx="3136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增强策略、投影头维度</a:t>
            </a:r>
            <a:endParaRPr lang="en-US" sz="1700" dirty="0"/>
          </a:p>
        </p:txBody>
      </p:sp>
      <p:sp>
        <p:nvSpPr>
          <p:cNvPr id="44" name="Text 42"/>
          <p:cNvSpPr/>
          <p:nvPr/>
        </p:nvSpPr>
        <p:spPr>
          <a:xfrm>
            <a:off x="8394192" y="4443984"/>
            <a:ext cx="3136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5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诊断项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8394192" y="4809744"/>
            <a:ext cx="3136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02A3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Mixup </a:t>
            </a:r>
            <a:r>
              <a:rPr lang="en-US" sz="1700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系数与训练曲线</a:t>
            </a:r>
            <a:endParaRPr lang="en-US" sz="1700" dirty="0"/>
          </a:p>
        </p:txBody>
      </p:sp>
      <p:sp>
        <p:nvSpPr>
          <p:cNvPr id="46" name="Shape 44"/>
          <p:cNvSpPr/>
          <p:nvPr/>
        </p:nvSpPr>
        <p:spPr>
          <a:xfrm>
            <a:off x="457200" y="5532120"/>
            <a:ext cx="11274552" cy="484632"/>
          </a:xfrm>
          <a:prstGeom prst="rect">
            <a:avLst/>
          </a:prstGeom>
          <a:solidFill>
            <a:srgbClr val="EAF3FB"/>
          </a:solidFill>
          <a:ln w="13970">
            <a:solidFill>
              <a:srgbClr val="174A8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48640" y="5586984"/>
            <a:ext cx="110916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4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评测：编码器表征</a:t>
            </a:r>
            <a:r>
              <a:rPr lang="en-US" sz="1700" b="1" dirty="0">
                <a:solidFill>
                  <a:srgbClr val="174A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→ </a:t>
            </a:r>
            <a:r>
              <a:rPr lang="en-US" sz="1700" b="1" dirty="0">
                <a:solidFill>
                  <a:srgbClr val="174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支持集分类</a:t>
            </a:r>
            <a:r>
              <a:rPr lang="en-US" sz="1700" b="1" dirty="0">
                <a:solidFill>
                  <a:srgbClr val="174A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→ </a:t>
            </a:r>
            <a:r>
              <a:rPr lang="en-US" sz="1700" b="1" dirty="0">
                <a:solidFill>
                  <a:srgbClr val="174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查询集准确率</a:t>
            </a:r>
            <a:endParaRPr lang="en-US" sz="1700" dirty="0"/>
          </a:p>
        </p:txBody>
      </p:sp>
      <p:sp>
        <p:nvSpPr>
          <p:cNvPr id="48" name="Text 46"/>
          <p:cNvSpPr/>
          <p:nvPr/>
        </p:nvSpPr>
        <p:spPr>
          <a:xfrm>
            <a:off x="457200" y="6053328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64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r>
              <a:rPr lang="en-US" sz="1200" dirty="0">
                <a:solidFill>
                  <a:srgbClr val="5264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4 · </a:t>
            </a:r>
            <a:r>
              <a:rPr lang="en-US" sz="1200" dirty="0">
                <a:solidFill>
                  <a:srgbClr val="5264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原生形状方法图；训练与评测用途分别标注，本图不宣称具体算法的新颖性。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109728" cy="155448"/>
          </a:xfrm>
          <a:prstGeom prst="rect">
            <a:avLst/>
          </a:prstGeom>
          <a:solidFill>
            <a:srgbClr val="174A88"/>
          </a:solidFill>
          <a:ln w="13970">
            <a:solidFill>
              <a:srgbClr val="174A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18288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4A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</a:t>
            </a:r>
            <a:r>
              <a:rPr lang="en-US" sz="1300" b="1" dirty="0">
                <a:solidFill>
                  <a:srgbClr val="174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结果比较与解释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4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演示结果：增强提高</a:t>
            </a:r>
            <a:r>
              <a:rPr lang="en-US" sz="2800" b="1" dirty="0">
                <a:solidFill>
                  <a:srgbClr val="174A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1-shot </a:t>
            </a:r>
            <a:r>
              <a:rPr lang="en-US" sz="2800" b="1" dirty="0">
                <a:solidFill>
                  <a:srgbClr val="174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均值，</a:t>
            </a:r>
            <a:r>
              <a:rPr lang="en-US" sz="2800" b="1" dirty="0">
                <a:solidFill>
                  <a:srgbClr val="174A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256 </a:t>
            </a:r>
            <a:r>
              <a:rPr lang="en-US" sz="2800" b="1" dirty="0">
                <a:solidFill>
                  <a:srgbClr val="174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维后精度变化较小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197864"/>
            <a:ext cx="521208" cy="0"/>
          </a:xfrm>
          <a:prstGeom prst="line">
            <a:avLst/>
          </a:prstGeom>
          <a:noFill/>
          <a:ln w="38100">
            <a:solidFill>
              <a:srgbClr val="174A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99032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演示设置：固定编码器与训练轮次，分别比较增强与投影头；结果不支持显著性推断。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6391656"/>
            <a:ext cx="11274552" cy="0"/>
          </a:xfrm>
          <a:prstGeom prst="line">
            <a:avLst/>
          </a:prstGeom>
          <a:noFill/>
          <a:ln w="7620">
            <a:solidFill>
              <a:srgbClr val="B8CA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6492240"/>
            <a:ext cx="9966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64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学术蓝白示例</a:t>
            </a:r>
            <a:r>
              <a:rPr lang="en-US" sz="1200" dirty="0">
                <a:solidFill>
                  <a:srgbClr val="5264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· </a:t>
            </a:r>
            <a:r>
              <a:rPr lang="en-US" sz="1200" dirty="0">
                <a:solidFill>
                  <a:srgbClr val="5264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所有研究数据均为虚构演示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698480" y="6492240"/>
            <a:ext cx="10332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264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/ 9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148840"/>
            <a:ext cx="5623560" cy="420624"/>
          </a:xfrm>
          <a:prstGeom prst="rect">
            <a:avLst/>
          </a:prstGeom>
          <a:solidFill>
            <a:srgbClr val="174A88"/>
          </a:solidFill>
          <a:ln w="13970">
            <a:solidFill>
              <a:srgbClr val="174A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5216" y="2167128"/>
            <a:ext cx="5367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增强策略</a:t>
            </a: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· 1-shot </a:t>
            </a: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准确率</a:t>
            </a:r>
            <a:endParaRPr lang="en-US" sz="18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02920" y="2688336"/>
          <a:ext cx="5522976" cy="256946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10"/>
          <p:cNvSpPr/>
          <p:nvPr/>
        </p:nvSpPr>
        <p:spPr>
          <a:xfrm>
            <a:off x="6382512" y="2148840"/>
            <a:ext cx="5349240" cy="420624"/>
          </a:xfrm>
          <a:prstGeom prst="rect">
            <a:avLst/>
          </a:prstGeom>
          <a:solidFill>
            <a:srgbClr val="174A88"/>
          </a:solidFill>
          <a:ln w="13970">
            <a:solidFill>
              <a:srgbClr val="174A8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510528" y="2167128"/>
            <a:ext cx="5093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投影头消融</a:t>
            </a: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· </a:t>
            </a: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精度与训练代价</a:t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82512" y="2706624"/>
          <a:ext cx="5349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463040"/>
                <a:gridCol w="1463040"/>
                <a:gridCol w="1417320"/>
              </a:tblGrid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63500" marB="63500" anchor="ctr">
                    <a:lnL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A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1-shot %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63500" marB="63500" anchor="ctr">
                    <a:lnL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A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5-shot %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63500" marB="63500" anchor="ctr">
                    <a:lnL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A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时长</a:t>
                      </a: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h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63500" marB="63500" anchor="ctr">
                    <a:lnL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A88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02A3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128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63500" marB="63500" anchor="ctr">
                    <a:lnL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02A3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54.6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63500" marB="63500" anchor="ctr">
                    <a:lnL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02A3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71.2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63500" marB="63500" anchor="ctr">
                    <a:lnL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02A3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3.1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63500" marB="63500" anchor="ctr">
                    <a:lnL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02A3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256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63500" marB="63500" anchor="ctr">
                    <a:lnL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02A3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55.9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63500" marB="63500" anchor="ctr">
                    <a:lnL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02A3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72.0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63500" marB="63500" anchor="ctr">
                    <a:lnL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02A3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4.2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63500" marB="63500" anchor="ctr">
                    <a:lnL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B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02A3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512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63500" marB="63500" anchor="ctr">
                    <a:lnL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02A3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55.7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63500" marB="63500" anchor="ctr">
                    <a:lnL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02A3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71.9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63500" marB="63500" anchor="ctr">
                    <a:lnL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02A3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6.5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63500" marB="63500" anchor="ctr">
                    <a:lnL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02A3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1024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63500" marB="63500" anchor="ctr">
                    <a:lnL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02A3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55.8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63500" marB="63500" anchor="ctr">
                    <a:lnL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02A3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72.1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63500" marB="63500" anchor="ctr">
                    <a:lnL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02A3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10.9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63500" marB="63500" anchor="ctr">
                    <a:lnL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B"/>
                    </a:solidFill>
                  </a:tcPr>
                </a:tc>
              </a:tr>
            </a:tbl>
          </a:graphicData>
        </a:graphic>
      </p:graphicFrame>
      <p:sp>
        <p:nvSpPr>
          <p:cNvPr id="16" name="Shape 12"/>
          <p:cNvSpPr/>
          <p:nvPr/>
        </p:nvSpPr>
        <p:spPr>
          <a:xfrm>
            <a:off x="457200" y="5440680"/>
            <a:ext cx="11274552" cy="0"/>
          </a:xfrm>
          <a:prstGeom prst="line">
            <a:avLst/>
          </a:prstGeom>
          <a:noFill/>
          <a:ln w="12700">
            <a:solidFill>
              <a:srgbClr val="B8CADB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57200" y="5550408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4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解读：</a:t>
            </a:r>
            <a:r>
              <a:rPr lang="en-US" sz="1700" b="1" dirty="0">
                <a:solidFill>
                  <a:srgbClr val="174A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RandAug </a:t>
            </a:r>
            <a:r>
              <a:rPr lang="en-US" sz="1700" b="1" dirty="0">
                <a:solidFill>
                  <a:srgbClr val="174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比基线高</a:t>
            </a:r>
            <a:r>
              <a:rPr lang="en-US" sz="1700" b="1" dirty="0">
                <a:solidFill>
                  <a:srgbClr val="174A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3.1 </a:t>
            </a:r>
            <a:r>
              <a:rPr lang="en-US" sz="1700" b="1" dirty="0">
                <a:solidFill>
                  <a:srgbClr val="174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个百分点；</a:t>
            </a:r>
            <a:r>
              <a:rPr lang="en-US" sz="1700" b="1" dirty="0">
                <a:solidFill>
                  <a:srgbClr val="174A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256 </a:t>
            </a:r>
            <a:r>
              <a:rPr lang="en-US" sz="1700" b="1" dirty="0">
                <a:solidFill>
                  <a:srgbClr val="174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维之后精度接近，而演示耗时继续增加。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457200" y="6053328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64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局限：未提供逐次实验值与误差范围；只展示均值和时长，不作统计显著性结论。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109728" cy="155448"/>
          </a:xfrm>
          <a:prstGeom prst="rect">
            <a:avLst/>
          </a:prstGeom>
          <a:solidFill>
            <a:srgbClr val="174A88"/>
          </a:solidFill>
          <a:ln w="13970">
            <a:solidFill>
              <a:srgbClr val="174A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18288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4A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 </a:t>
            </a:r>
            <a:r>
              <a:rPr lang="en-US" sz="1300" b="1" dirty="0">
                <a:solidFill>
                  <a:srgbClr val="174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问题分析与排查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4A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Mixup </a:t>
            </a:r>
            <a:r>
              <a:rPr lang="en-US" sz="2800" b="1" dirty="0">
                <a:solidFill>
                  <a:srgbClr val="174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震荡仍未归因，下一步先核对样本关系再扫描系数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197864"/>
            <a:ext cx="521208" cy="0"/>
          </a:xfrm>
          <a:prstGeom prst="line">
            <a:avLst/>
          </a:prstGeom>
          <a:noFill/>
          <a:ln w="38100">
            <a:solidFill>
              <a:srgbClr val="174A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99032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观察与假设分开：曲线展示现象；温度项与混合样本的相互作用目前只是待验证解释。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6391656"/>
            <a:ext cx="11274552" cy="0"/>
          </a:xfrm>
          <a:prstGeom prst="line">
            <a:avLst/>
          </a:prstGeom>
          <a:noFill/>
          <a:ln w="7620">
            <a:solidFill>
              <a:srgbClr val="B8CA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6492240"/>
            <a:ext cx="9966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64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学术蓝白示例</a:t>
            </a:r>
            <a:r>
              <a:rPr lang="en-US" sz="1200" dirty="0">
                <a:solidFill>
                  <a:srgbClr val="5264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· </a:t>
            </a:r>
            <a:r>
              <a:rPr lang="en-US" sz="1200" dirty="0">
                <a:solidFill>
                  <a:srgbClr val="5264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所有研究数据均为虚构演示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698480" y="6492240"/>
            <a:ext cx="10332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264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/ 9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148840"/>
            <a:ext cx="5513832" cy="420624"/>
          </a:xfrm>
          <a:prstGeom prst="rect">
            <a:avLst/>
          </a:prstGeom>
          <a:solidFill>
            <a:srgbClr val="B73535"/>
          </a:solidFill>
          <a:ln w="13970">
            <a:solidFill>
              <a:srgbClr val="B7353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5216" y="2167128"/>
            <a:ext cx="5257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训练曲线</a:t>
            </a: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· </a:t>
            </a: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虚构趋势示意</a:t>
            </a:r>
            <a:endParaRPr lang="en-US" sz="18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493776" y="2706624"/>
          <a:ext cx="5431536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10"/>
          <p:cNvSpPr/>
          <p:nvPr/>
        </p:nvSpPr>
        <p:spPr>
          <a:xfrm>
            <a:off x="6291072" y="2148840"/>
            <a:ext cx="5440680" cy="420624"/>
          </a:xfrm>
          <a:prstGeom prst="rect">
            <a:avLst/>
          </a:prstGeom>
          <a:solidFill>
            <a:srgbClr val="174A88"/>
          </a:solidFill>
          <a:ln w="13970">
            <a:solidFill>
              <a:srgbClr val="174A8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19088" y="2167128"/>
            <a:ext cx="5184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排查路径</a:t>
            </a: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· </a:t>
            </a: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每一步对应证据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291072" y="2734056"/>
            <a:ext cx="1947672" cy="557784"/>
          </a:xfrm>
          <a:prstGeom prst="rect">
            <a:avLst/>
          </a:prstGeom>
          <a:solidFill>
            <a:srgbClr val="EAF3FB"/>
          </a:solidFill>
          <a:ln w="13970">
            <a:solidFill>
              <a:srgbClr val="00857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2512" y="2788920"/>
            <a:ext cx="176479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85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已查</a:t>
            </a:r>
            <a:r>
              <a:rPr lang="en-US" sz="1500" b="1" dirty="0">
                <a:solidFill>
                  <a:srgbClr val="00857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· </a:t>
            </a:r>
            <a:r>
              <a:rPr lang="en-US" sz="1500" b="1" dirty="0">
                <a:solidFill>
                  <a:srgbClr val="0085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运行状态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439912" y="272491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</a:t>
            </a:r>
            <a:r>
              <a:rPr lang="en-US" sz="1600" dirty="0">
                <a:solidFill>
                  <a:srgbClr val="202A3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OOM </a:t>
            </a:r>
            <a:r>
              <a:rPr lang="en-US" sz="1600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与加载日志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7260336" y="3291840"/>
            <a:ext cx="0" cy="274320"/>
          </a:xfrm>
          <a:prstGeom prst="line">
            <a:avLst/>
          </a:prstGeom>
          <a:noFill/>
          <a:ln w="25400">
            <a:solidFill>
              <a:srgbClr val="174A88"/>
            </a:solidFill>
            <a:prstDash val="solid"/>
            <a:headEnd type="none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6291072" y="3575304"/>
            <a:ext cx="1947672" cy="557784"/>
          </a:xfrm>
          <a:prstGeom prst="rect">
            <a:avLst/>
          </a:prstGeom>
          <a:solidFill>
            <a:srgbClr val="EAF3FB"/>
          </a:solidFill>
          <a:ln w="13970">
            <a:solidFill>
              <a:srgbClr val="174A8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82512" y="3630168"/>
            <a:ext cx="176479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4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待核</a:t>
            </a:r>
            <a:r>
              <a:rPr lang="en-US" sz="1500" b="1" dirty="0">
                <a:solidFill>
                  <a:srgbClr val="174A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· </a:t>
            </a:r>
            <a:r>
              <a:rPr lang="en-US" sz="1500" b="1" dirty="0">
                <a:solidFill>
                  <a:srgbClr val="174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样本关系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8439912" y="356616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记录标签与相似度，再检验归因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7260336" y="4133088"/>
            <a:ext cx="0" cy="274320"/>
          </a:xfrm>
          <a:prstGeom prst="line">
            <a:avLst/>
          </a:prstGeom>
          <a:noFill/>
          <a:ln w="25400">
            <a:solidFill>
              <a:srgbClr val="174A88"/>
            </a:solidFill>
            <a:prstDash val="solid"/>
            <a:headEnd type="none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6291072" y="4416552"/>
            <a:ext cx="1947672" cy="557784"/>
          </a:xfrm>
          <a:prstGeom prst="rect">
            <a:avLst/>
          </a:prstGeom>
          <a:solidFill>
            <a:srgbClr val="EAF3FB"/>
          </a:solidFill>
          <a:ln w="13970">
            <a:solidFill>
              <a:srgbClr val="B87B0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382512" y="4471416"/>
            <a:ext cx="176479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87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待验</a:t>
            </a:r>
            <a:r>
              <a:rPr lang="en-US" sz="1500" b="1" dirty="0">
                <a:solidFill>
                  <a:srgbClr val="B87B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· </a:t>
            </a:r>
            <a:r>
              <a:rPr lang="en-US" sz="1500" b="1" dirty="0">
                <a:solidFill>
                  <a:srgbClr val="B87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系数与温度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8439912" y="4407408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先扫描系数，再独立改变温度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457200" y="5504688"/>
            <a:ext cx="11274552" cy="448056"/>
          </a:xfrm>
          <a:prstGeom prst="rect">
            <a:avLst/>
          </a:prstGeom>
          <a:solidFill>
            <a:srgbClr val="FFF4F1"/>
          </a:solidFill>
          <a:ln w="13970">
            <a:solidFill>
              <a:srgbClr val="B7353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12648" y="555955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735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验收条件：给出能稳定复现尖峰的最小设置，再检验改变单一变量是否能消除现象。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457200" y="6053328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64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r>
              <a:rPr lang="en-US" sz="1200" dirty="0">
                <a:solidFill>
                  <a:srgbClr val="5264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5 · </a:t>
            </a:r>
            <a:r>
              <a:rPr lang="en-US" sz="1200" dirty="0">
                <a:solidFill>
                  <a:srgbClr val="5264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曲线不是实际训练日志；诊断链展示实验设计，不能作为机制已被证实的依据。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109728" cy="155448"/>
          </a:xfrm>
          <a:prstGeom prst="rect">
            <a:avLst/>
          </a:prstGeom>
          <a:solidFill>
            <a:srgbClr val="174A88"/>
          </a:solidFill>
          <a:ln w="13970">
            <a:solidFill>
              <a:srgbClr val="174A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18288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4A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 </a:t>
            </a:r>
            <a:r>
              <a:rPr lang="en-US" sz="1300" b="1" dirty="0">
                <a:solidFill>
                  <a:srgbClr val="174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下期计划与讨论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4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先完成可复现诊断，再决定增强与样本合成的投入顺序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197864"/>
            <a:ext cx="521208" cy="0"/>
          </a:xfrm>
          <a:prstGeom prst="line">
            <a:avLst/>
          </a:prstGeom>
          <a:noFill/>
          <a:ln w="38100">
            <a:solidFill>
              <a:srgbClr val="174A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99032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下一周安排（示例）：优先完成可复现诊断和单变量扫描，方向决策依赖这些结果。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6391656"/>
            <a:ext cx="11274552" cy="0"/>
          </a:xfrm>
          <a:prstGeom prst="line">
            <a:avLst/>
          </a:prstGeom>
          <a:noFill/>
          <a:ln w="7620">
            <a:solidFill>
              <a:srgbClr val="B8CA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6492240"/>
            <a:ext cx="9966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64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学术蓝白示例</a:t>
            </a:r>
            <a:r>
              <a:rPr lang="en-US" sz="1200" dirty="0">
                <a:solidFill>
                  <a:srgbClr val="5264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· </a:t>
            </a:r>
            <a:r>
              <a:rPr lang="en-US" sz="1200" dirty="0">
                <a:solidFill>
                  <a:srgbClr val="5264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所有研究数据均为虚构演示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698480" y="6492240"/>
            <a:ext cx="10332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264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/ 9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148840"/>
            <a:ext cx="6876288" cy="420624"/>
          </a:xfrm>
          <a:prstGeom prst="rect">
            <a:avLst/>
          </a:prstGeom>
          <a:solidFill>
            <a:srgbClr val="174A88"/>
          </a:solidFill>
          <a:ln w="13970">
            <a:solidFill>
              <a:srgbClr val="174A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5216" y="2167128"/>
            <a:ext cx="6620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任务与依赖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511296" y="2679192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4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周四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169664" y="2679192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4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周五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28032" y="2679192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4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周六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0" y="2679192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4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周日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144768" y="2679192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4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周一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76072" y="3364992"/>
            <a:ext cx="2761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核对样本关系与日志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3511296" y="3364992"/>
            <a:ext cx="658368" cy="374904"/>
          </a:xfrm>
          <a:prstGeom prst="rect">
            <a:avLst/>
          </a:prstGeom>
          <a:solidFill>
            <a:srgbClr val="FFFFFF"/>
          </a:solidFill>
          <a:ln w="13970">
            <a:solidFill>
              <a:srgbClr val="B8CAD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69664" y="3364992"/>
            <a:ext cx="658368" cy="374904"/>
          </a:xfrm>
          <a:prstGeom prst="rect">
            <a:avLst/>
          </a:prstGeom>
          <a:solidFill>
            <a:srgbClr val="FFFFFF"/>
          </a:solidFill>
          <a:ln w="13970">
            <a:solidFill>
              <a:srgbClr val="B8CA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28032" y="3364992"/>
            <a:ext cx="658368" cy="374904"/>
          </a:xfrm>
          <a:prstGeom prst="rect">
            <a:avLst/>
          </a:prstGeom>
          <a:solidFill>
            <a:srgbClr val="FFFFFF"/>
          </a:solidFill>
          <a:ln w="13970">
            <a:solidFill>
              <a:srgbClr val="B8CAD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0" y="3364992"/>
            <a:ext cx="658368" cy="374904"/>
          </a:xfrm>
          <a:prstGeom prst="rect">
            <a:avLst/>
          </a:prstGeom>
          <a:solidFill>
            <a:srgbClr val="FFFFFF"/>
          </a:solidFill>
          <a:ln w="13970">
            <a:solidFill>
              <a:srgbClr val="B8CA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44768" y="3364992"/>
            <a:ext cx="658368" cy="374904"/>
          </a:xfrm>
          <a:prstGeom prst="rect">
            <a:avLst/>
          </a:prstGeom>
          <a:solidFill>
            <a:srgbClr val="FFFFFF"/>
          </a:solidFill>
          <a:ln w="13970">
            <a:solidFill>
              <a:srgbClr val="B8CA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47872" y="3419856"/>
            <a:ext cx="585216" cy="265176"/>
          </a:xfrm>
          <a:prstGeom prst="rect">
            <a:avLst/>
          </a:prstGeom>
          <a:solidFill>
            <a:srgbClr val="008579"/>
          </a:solidFill>
          <a:ln w="13970">
            <a:solidFill>
              <a:srgbClr val="00857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6072" y="3904488"/>
            <a:ext cx="2761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02A3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Mixup </a:t>
            </a:r>
            <a:r>
              <a:rPr lang="en-US" sz="1600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系数单变量扫描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3511296" y="3904488"/>
            <a:ext cx="658368" cy="374904"/>
          </a:xfrm>
          <a:prstGeom prst="rect">
            <a:avLst/>
          </a:prstGeom>
          <a:solidFill>
            <a:srgbClr val="FFFFFF"/>
          </a:solidFill>
          <a:ln w="13970">
            <a:solidFill>
              <a:srgbClr val="B8CAD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69664" y="3904488"/>
            <a:ext cx="658368" cy="374904"/>
          </a:xfrm>
          <a:prstGeom prst="rect">
            <a:avLst/>
          </a:prstGeom>
          <a:solidFill>
            <a:srgbClr val="FFFFFF"/>
          </a:solidFill>
          <a:ln w="13970">
            <a:solidFill>
              <a:srgbClr val="B8CAD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828032" y="3904488"/>
            <a:ext cx="658368" cy="374904"/>
          </a:xfrm>
          <a:prstGeom prst="rect">
            <a:avLst/>
          </a:prstGeom>
          <a:solidFill>
            <a:srgbClr val="FFFFFF"/>
          </a:solidFill>
          <a:ln w="13970">
            <a:solidFill>
              <a:srgbClr val="B8CAD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0" y="3904488"/>
            <a:ext cx="658368" cy="374904"/>
          </a:xfrm>
          <a:prstGeom prst="rect">
            <a:avLst/>
          </a:prstGeom>
          <a:solidFill>
            <a:srgbClr val="FFFFFF"/>
          </a:solidFill>
          <a:ln w="13970">
            <a:solidFill>
              <a:srgbClr val="B8CAD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44768" y="3904488"/>
            <a:ext cx="658368" cy="374904"/>
          </a:xfrm>
          <a:prstGeom prst="rect">
            <a:avLst/>
          </a:prstGeom>
          <a:solidFill>
            <a:srgbClr val="FFFFFF"/>
          </a:solidFill>
          <a:ln w="13970">
            <a:solidFill>
              <a:srgbClr val="B8CAD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206240" y="3959352"/>
            <a:ext cx="1243584" cy="265176"/>
          </a:xfrm>
          <a:prstGeom prst="rect">
            <a:avLst/>
          </a:prstGeom>
          <a:solidFill>
            <a:srgbClr val="096CA8"/>
          </a:solidFill>
          <a:ln w="13970">
            <a:solidFill>
              <a:srgbClr val="096CA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76072" y="4443984"/>
            <a:ext cx="2761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温度项独立验证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511296" y="4443984"/>
            <a:ext cx="658368" cy="374904"/>
          </a:xfrm>
          <a:prstGeom prst="rect">
            <a:avLst/>
          </a:prstGeom>
          <a:solidFill>
            <a:srgbClr val="FFFFFF"/>
          </a:solidFill>
          <a:ln w="13970">
            <a:solidFill>
              <a:srgbClr val="B8CAD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169664" y="4443984"/>
            <a:ext cx="658368" cy="374904"/>
          </a:xfrm>
          <a:prstGeom prst="rect">
            <a:avLst/>
          </a:prstGeom>
          <a:solidFill>
            <a:srgbClr val="FFFFFF"/>
          </a:solidFill>
          <a:ln w="13970">
            <a:solidFill>
              <a:srgbClr val="B8CAD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28032" y="4443984"/>
            <a:ext cx="658368" cy="374904"/>
          </a:xfrm>
          <a:prstGeom prst="rect">
            <a:avLst/>
          </a:prstGeom>
          <a:solidFill>
            <a:srgbClr val="FFFFFF"/>
          </a:solidFill>
          <a:ln w="13970">
            <a:solidFill>
              <a:srgbClr val="B8CAD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86400" y="4443984"/>
            <a:ext cx="658368" cy="374904"/>
          </a:xfrm>
          <a:prstGeom prst="rect">
            <a:avLst/>
          </a:prstGeom>
          <a:solidFill>
            <a:srgbClr val="FFFFFF"/>
          </a:solidFill>
          <a:ln w="13970">
            <a:solidFill>
              <a:srgbClr val="B8CAD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144768" y="4443984"/>
            <a:ext cx="658368" cy="374904"/>
          </a:xfrm>
          <a:prstGeom prst="rect">
            <a:avLst/>
          </a:prstGeom>
          <a:solidFill>
            <a:srgbClr val="FFFFFF"/>
          </a:solidFill>
          <a:ln w="13970">
            <a:solidFill>
              <a:srgbClr val="B8CAD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64608" y="4498848"/>
            <a:ext cx="1243584" cy="265176"/>
          </a:xfrm>
          <a:prstGeom prst="rect">
            <a:avLst/>
          </a:prstGeom>
          <a:solidFill>
            <a:srgbClr val="096CA8"/>
          </a:solidFill>
          <a:ln w="13970">
            <a:solidFill>
              <a:srgbClr val="096CA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76072" y="4983480"/>
            <a:ext cx="2761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汇总复现包与方向判断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3511296" y="4983480"/>
            <a:ext cx="658368" cy="374904"/>
          </a:xfrm>
          <a:prstGeom prst="rect">
            <a:avLst/>
          </a:prstGeom>
          <a:solidFill>
            <a:srgbClr val="FFFFFF"/>
          </a:solidFill>
          <a:ln w="13970">
            <a:solidFill>
              <a:srgbClr val="B8CAD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169664" y="4983480"/>
            <a:ext cx="658368" cy="374904"/>
          </a:xfrm>
          <a:prstGeom prst="rect">
            <a:avLst/>
          </a:prstGeom>
          <a:solidFill>
            <a:srgbClr val="FFFFFF"/>
          </a:solidFill>
          <a:ln w="13970">
            <a:solidFill>
              <a:srgbClr val="B8CAD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828032" y="4983480"/>
            <a:ext cx="658368" cy="374904"/>
          </a:xfrm>
          <a:prstGeom prst="rect">
            <a:avLst/>
          </a:prstGeom>
          <a:solidFill>
            <a:srgbClr val="FFFFFF"/>
          </a:solidFill>
          <a:ln w="13970">
            <a:solidFill>
              <a:srgbClr val="B8CAD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0" y="4983480"/>
            <a:ext cx="658368" cy="374904"/>
          </a:xfrm>
          <a:prstGeom prst="rect">
            <a:avLst/>
          </a:prstGeom>
          <a:solidFill>
            <a:srgbClr val="FFFFFF"/>
          </a:solidFill>
          <a:ln w="13970">
            <a:solidFill>
              <a:srgbClr val="B8CAD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144768" y="4983480"/>
            <a:ext cx="658368" cy="374904"/>
          </a:xfrm>
          <a:prstGeom prst="rect">
            <a:avLst/>
          </a:prstGeom>
          <a:solidFill>
            <a:srgbClr val="FFFFFF"/>
          </a:solidFill>
          <a:ln w="13970">
            <a:solidFill>
              <a:srgbClr val="B8CAD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522976" y="5038344"/>
            <a:ext cx="1243584" cy="265176"/>
          </a:xfrm>
          <a:prstGeom prst="rect">
            <a:avLst/>
          </a:prstGeom>
          <a:solidFill>
            <a:srgbClr val="096CA8"/>
          </a:solidFill>
          <a:ln w="13970">
            <a:solidFill>
              <a:srgbClr val="096CA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35240" y="2148840"/>
            <a:ext cx="4096512" cy="420624"/>
          </a:xfrm>
          <a:prstGeom prst="rect">
            <a:avLst/>
          </a:prstGeom>
          <a:solidFill>
            <a:srgbClr val="008579"/>
          </a:solidFill>
          <a:ln w="13970">
            <a:solidFill>
              <a:srgbClr val="008579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763256" y="2167128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完成标志</a:t>
            </a: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</a:t>
            </a: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资源讨论</a:t>
            </a:r>
            <a:endParaRPr lang="en-US" sz="1800" dirty="0"/>
          </a:p>
        </p:txBody>
      </p:sp>
      <p:sp>
        <p:nvSpPr>
          <p:cNvPr id="47" name="Text 45"/>
          <p:cNvSpPr/>
          <p:nvPr/>
        </p:nvSpPr>
        <p:spPr>
          <a:xfrm>
            <a:off x="7818120" y="2724912"/>
            <a:ext cx="37307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5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复现包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7818120" y="3017520"/>
            <a:ext cx="373075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配置、种子、日志和对齐图</a:t>
            </a:r>
            <a:endParaRPr lang="en-US" sz="1700" dirty="0"/>
          </a:p>
        </p:txBody>
      </p:sp>
      <p:sp>
        <p:nvSpPr>
          <p:cNvPr id="49" name="Text 47"/>
          <p:cNvSpPr/>
          <p:nvPr/>
        </p:nvSpPr>
        <p:spPr>
          <a:xfrm>
            <a:off x="7818120" y="3374136"/>
            <a:ext cx="37307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5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扫描表</a:t>
            </a:r>
            <a:endParaRPr lang="en-US" sz="1500" dirty="0"/>
          </a:p>
        </p:txBody>
      </p:sp>
      <p:sp>
        <p:nvSpPr>
          <p:cNvPr id="50" name="Text 48"/>
          <p:cNvSpPr/>
          <p:nvPr/>
        </p:nvSpPr>
        <p:spPr>
          <a:xfrm>
            <a:off x="7818120" y="3666744"/>
            <a:ext cx="373075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单变量、重复值和失败记录</a:t>
            </a:r>
            <a:endParaRPr lang="en-US" sz="1700" dirty="0"/>
          </a:p>
        </p:txBody>
      </p:sp>
      <p:sp>
        <p:nvSpPr>
          <p:cNvPr id="51" name="Text 49"/>
          <p:cNvSpPr/>
          <p:nvPr/>
        </p:nvSpPr>
        <p:spPr>
          <a:xfrm>
            <a:off x="7818120" y="4023360"/>
            <a:ext cx="37307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5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资源确认</a:t>
            </a:r>
            <a:endParaRPr lang="en-US" sz="1500" dirty="0"/>
          </a:p>
        </p:txBody>
      </p:sp>
      <p:sp>
        <p:nvSpPr>
          <p:cNvPr id="52" name="Text 50"/>
          <p:cNvSpPr/>
          <p:nvPr/>
        </p:nvSpPr>
        <p:spPr>
          <a:xfrm>
            <a:off x="7818120" y="4315968"/>
            <a:ext cx="373075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一张卡的连续运行时段</a:t>
            </a:r>
            <a:endParaRPr lang="en-US" sz="1700" dirty="0"/>
          </a:p>
        </p:txBody>
      </p:sp>
      <p:sp>
        <p:nvSpPr>
          <p:cNvPr id="53" name="Text 51"/>
          <p:cNvSpPr/>
          <p:nvPr/>
        </p:nvSpPr>
        <p:spPr>
          <a:xfrm>
            <a:off x="7818120" y="4672584"/>
            <a:ext cx="37307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5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经验求助</a:t>
            </a:r>
            <a:endParaRPr lang="en-US" sz="1500" dirty="0"/>
          </a:p>
        </p:txBody>
      </p:sp>
      <p:sp>
        <p:nvSpPr>
          <p:cNvPr id="54" name="Text 52"/>
          <p:cNvSpPr/>
          <p:nvPr/>
        </p:nvSpPr>
        <p:spPr>
          <a:xfrm>
            <a:off x="7818120" y="4965192"/>
            <a:ext cx="373075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请同学复核混合样本构造</a:t>
            </a:r>
            <a:endParaRPr lang="en-US" sz="1700" dirty="0"/>
          </a:p>
        </p:txBody>
      </p:sp>
      <p:sp>
        <p:nvSpPr>
          <p:cNvPr id="55" name="Shape 53"/>
          <p:cNvSpPr/>
          <p:nvPr/>
        </p:nvSpPr>
        <p:spPr>
          <a:xfrm>
            <a:off x="576072" y="5495544"/>
            <a:ext cx="1938528" cy="448056"/>
          </a:xfrm>
          <a:prstGeom prst="rect">
            <a:avLst/>
          </a:prstGeom>
          <a:solidFill>
            <a:srgbClr val="EAF3FB"/>
          </a:solidFill>
          <a:ln w="13970">
            <a:solidFill>
              <a:srgbClr val="008579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67512" y="5550408"/>
            <a:ext cx="17556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85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样本核对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2953512" y="5495544"/>
            <a:ext cx="2560320" cy="448056"/>
          </a:xfrm>
          <a:prstGeom prst="rect">
            <a:avLst/>
          </a:prstGeom>
          <a:solidFill>
            <a:srgbClr val="EAF3FB"/>
          </a:solidFill>
          <a:ln w="13970">
            <a:solidFill>
              <a:srgbClr val="096CA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044952" y="5550408"/>
            <a:ext cx="23774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96C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系数</a:t>
            </a:r>
            <a:r>
              <a:rPr lang="en-US" sz="1600" b="1" dirty="0">
                <a:solidFill>
                  <a:srgbClr val="096C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</a:t>
            </a:r>
            <a:r>
              <a:rPr lang="en-US" sz="1600" b="1" dirty="0">
                <a:solidFill>
                  <a:srgbClr val="096C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温度扫描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5961888" y="5495544"/>
            <a:ext cx="2862072" cy="448056"/>
          </a:xfrm>
          <a:prstGeom prst="rect">
            <a:avLst/>
          </a:prstGeom>
          <a:solidFill>
            <a:srgbClr val="EAF3FB"/>
          </a:solidFill>
          <a:ln w="13970">
            <a:solidFill>
              <a:srgbClr val="B87B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053328" y="5550408"/>
            <a:ext cx="267919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7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复现包与投入决策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2514600" y="5715000"/>
            <a:ext cx="438912" cy="0"/>
          </a:xfrm>
          <a:prstGeom prst="line">
            <a:avLst/>
          </a:prstGeom>
          <a:noFill/>
          <a:ln w="25400">
            <a:solidFill>
              <a:srgbClr val="174A88"/>
            </a:solidFill>
            <a:prstDash val="solid"/>
            <a:headEnd type="none"/>
            <a:tailEnd type="triangle"/>
          </a:ln>
        </p:spPr>
      </p:sp>
      <p:sp>
        <p:nvSpPr>
          <p:cNvPr id="62" name="Shape 60"/>
          <p:cNvSpPr/>
          <p:nvPr/>
        </p:nvSpPr>
        <p:spPr>
          <a:xfrm>
            <a:off x="5513832" y="5715000"/>
            <a:ext cx="448056" cy="0"/>
          </a:xfrm>
          <a:prstGeom prst="line">
            <a:avLst/>
          </a:prstGeom>
          <a:noFill/>
          <a:ln w="25400">
            <a:solidFill>
              <a:srgbClr val="174A88"/>
            </a:solidFill>
            <a:prstDash val="solid"/>
            <a:headEnd type="none"/>
            <a:tailEnd type="triangle"/>
          </a:ln>
        </p:spPr>
      </p:sp>
      <p:sp>
        <p:nvSpPr>
          <p:cNvPr id="63" name="Text 61"/>
          <p:cNvSpPr/>
          <p:nvPr/>
        </p:nvSpPr>
        <p:spPr>
          <a:xfrm>
            <a:off x="457200" y="6053328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64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r>
              <a:rPr lang="en-US" sz="1200" dirty="0">
                <a:solidFill>
                  <a:srgbClr val="5264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6 · </a:t>
            </a:r>
            <a:r>
              <a:rPr lang="en-US" sz="1200" dirty="0">
                <a:solidFill>
                  <a:srgbClr val="5264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示例排期；后续任务依赖前序产物，若无法复现则先补记录，不直接扩大扫描。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109728" cy="155448"/>
          </a:xfrm>
          <a:prstGeom prst="rect">
            <a:avLst/>
          </a:prstGeom>
          <a:solidFill>
            <a:srgbClr val="174A88"/>
          </a:solidFill>
          <a:ln w="13970">
            <a:solidFill>
              <a:srgbClr val="174A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18288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4A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 </a:t>
            </a:r>
            <a:r>
              <a:rPr lang="en-US" sz="1300" b="1" dirty="0">
                <a:solidFill>
                  <a:srgbClr val="174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备查附录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4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复现实验需要配置、原始值和数据边界共同留档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197864"/>
            <a:ext cx="521208" cy="0"/>
          </a:xfrm>
          <a:prstGeom prst="line">
            <a:avLst/>
          </a:prstGeom>
          <a:noFill/>
          <a:ln w="38100">
            <a:solidFill>
              <a:srgbClr val="174A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99032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本示例用于展示版式与图表编辑方式；以下配置和数据不构成实际实验的复现承诺。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6391656"/>
            <a:ext cx="11274552" cy="0"/>
          </a:xfrm>
          <a:prstGeom prst="line">
            <a:avLst/>
          </a:prstGeom>
          <a:noFill/>
          <a:ln w="7620">
            <a:solidFill>
              <a:srgbClr val="B8CA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6492240"/>
            <a:ext cx="9966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64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学术蓝白示例</a:t>
            </a:r>
            <a:r>
              <a:rPr lang="en-US" sz="1200" dirty="0">
                <a:solidFill>
                  <a:srgbClr val="5264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· </a:t>
            </a:r>
            <a:r>
              <a:rPr lang="en-US" sz="1200" dirty="0">
                <a:solidFill>
                  <a:srgbClr val="5264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所有研究数据均为虚构演示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698480" y="6492240"/>
            <a:ext cx="10332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264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/ 9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48840"/>
          <a:ext cx="11274552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666744"/>
                <a:gridCol w="1965960"/>
                <a:gridCol w="3675888"/>
              </a:tblGrid>
              <a:tr h="4663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配置项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63500" marB="63500" anchor="ctr">
                    <a:lnL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A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演示取值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63500" marB="63500" anchor="ctr">
                    <a:lnL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A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配置项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63500" marB="63500" anchor="ctr">
                    <a:lnL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A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演示取值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63500" marB="63500" anchor="ctr">
                    <a:lnL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A8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02A3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编码器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63500" marB="63500" anchor="ctr">
                    <a:lnL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02A3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ResNet-12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63500" marB="63500" anchor="ctr">
                    <a:lnL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02A3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训练轮次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63500" marB="63500" anchor="ctr">
                    <a:lnL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02A3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200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63500" marB="63500" anchor="ctr">
                    <a:lnL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02A3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优化器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63500" marB="63500" anchor="ctr">
                    <a:lnL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02A3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SGD / momentum 0.9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63500" marB="63500" anchor="ctr">
                    <a:lnL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02A3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批量大小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63500" marB="63500" anchor="ctr">
                    <a:lnL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02A3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256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63500" marB="63500" anchor="ctr">
                    <a:lnL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B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02A3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学习率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63500" marB="63500" anchor="ctr">
                    <a:lnL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02A3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0.03 / cosine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63500" marB="63500" anchor="ctr">
                    <a:lnL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02A3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权重衰减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63500" marB="63500" anchor="ctr">
                    <a:lnL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02A3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0.0001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63500" marB="63500" anchor="ctr">
                    <a:lnL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02A3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投影头维度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63500" marB="63500" anchor="ctr">
                    <a:lnL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02A3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128 / 256 / 512 / 1024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63500" marB="63500" anchor="ctr">
                    <a:lnL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02A3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Mixup </a:t>
                      </a:r>
                      <a:r>
                        <a:rPr lang="en-US" sz="1500" dirty="0">
                          <a:solidFill>
                            <a:srgbClr val="202A3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系数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63500" marB="63500" anchor="ctr">
                    <a:lnL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02A3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单独扫描，待验证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63500" marB="63500" anchor="ctr">
                    <a:lnL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B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02A3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评测口径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63500" marB="63500" anchor="ctr">
                    <a:lnL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02A3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1-shot / 5-shot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63500" marB="63500" anchor="ctr">
                    <a:lnL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02A3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重复实验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63500" marB="63500" anchor="ctr">
                    <a:lnL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02A3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未提供原始重复值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63500" marB="63500" anchor="ctr">
                    <a:lnL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A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457200" y="5330952"/>
            <a:ext cx="11274552" cy="420624"/>
          </a:xfrm>
          <a:prstGeom prst="rect">
            <a:avLst/>
          </a:prstGeom>
          <a:solidFill>
            <a:srgbClr val="174A88"/>
          </a:solidFill>
          <a:ln w="13970">
            <a:solidFill>
              <a:srgbClr val="174A8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85216" y="5349240"/>
            <a:ext cx="11018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演示数据与真实研究的边界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21792" y="5824728"/>
            <a:ext cx="10963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02A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所有数值及曲线均为虚构；真实研究须补充数据来源、逐次实验值、误差范围与可访问的配置记录。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面向小样本分类的对比学习研究进展</dc:title>
  <dc:subject>学术蓝白 · 原生可编辑图示 · 虚构演示数据</dc:subject>
  <dc:creator>Academic PPT</dc:creator>
  <cp:lastModifiedBy>Academic PPT</cp:lastModifiedBy>
  <cp:revision>1</cp:revision>
  <dcterms:created xsi:type="dcterms:W3CDTF">2026-10-28T10:59:57Z</dcterms:created>
  <dcterms:modified xsi:type="dcterms:W3CDTF">2026-10-28T10:59:57Z</dcterms:modified>
</cp:coreProperties>
</file>